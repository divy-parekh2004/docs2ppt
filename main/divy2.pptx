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74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714500"/>
            <a:ext cx="9144000" cy="5143500"/>
          </a:xfrm>
          <a:prstGeom prst="rect">
            <a:avLst/>
          </a:prstGeom>
          <a:solidFill>
            <a:srgbClr val="EA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/>
            </a:pPr>
            <a:r>
              <a:t>RESULT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 i="1"/>
            </a:pPr>
            <a:r>
              <a:t>Prevalence of Depression and Burnout </a:t>
            </a:r>
          </a:p>
          <a:p>
            <a:pPr>
              <a:defRPr sz="2400" i="1"/>
            </a:pPr>
            <a:r>
              <a:t>in Old Age Home Individuals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AFAFC"/>
            </a:gs>
            <a:gs pos="100000">
              <a:srgbClr val="F0F5FA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Descriptive Statistics of Demographic Data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554798"/>
          <a:ext cx="8229598" cy="886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1585"/>
                <a:gridCol w="1586428"/>
                <a:gridCol w="3321585"/>
              </a:tblGrid>
              <a:tr h="320040">
                <a:tc>
                  <a:txBody>
                    <a:bodyPr anchor="ctr" wrap="square"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DEMOGRAPHIC DATA</a:t>
                      </a:r>
                    </a:p>
                  </a:txBody>
                  <a:tcPr marL="36576" marR="36576" marT="18288" marB="18288">
                    <a:solidFill>
                      <a:srgbClr val="2C3E50"/>
                    </a:solidFill>
                  </a:tcPr>
                </a:tc>
                <a:tc>
                  <a:txBody>
                    <a:bodyPr anchor="ctr" wrap="square"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N(120)</a:t>
                      </a:r>
                    </a:p>
                  </a:txBody>
                  <a:tcPr marL="36576" marR="36576" marT="18288" marB="18288">
                    <a:solidFill>
                      <a:srgbClr val="2C3E50"/>
                    </a:solidFill>
                  </a:tcPr>
                </a:tc>
                <a:tc>
                  <a:txBody>
                    <a:bodyPr anchor="ctr" wrap="square"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MEAN ± SD</a:t>
                      </a:r>
                    </a:p>
                  </a:txBody>
                  <a:tcPr marL="36576" marR="36576" marT="18288" marB="18288">
                    <a:solidFill>
                      <a:srgbClr val="2C3E50"/>
                    </a:solidFill>
                  </a:tcPr>
                </a:tc>
              </a:tr>
              <a:tr h="283464">
                <a:tc>
                  <a:txBody>
                    <a:bodyPr anchor="ctr" wrap="square"/>
                    <a:lstStyle/>
                    <a:p>
                      <a:pPr algn="l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AGE</a:t>
                      </a:r>
                    </a:p>
                  </a:txBody>
                  <a:tcPr marL="36576" marR="36576" marT="18288" marB="18288"/>
                </a:tc>
                <a:tc>
                  <a:txBody>
                    <a:bodyPr anchor="ctr" wrap="square"/>
                    <a:lstStyle/>
                    <a:p>
                      <a:pPr algn="l">
                        <a:defRPr sz="1100">
                          <a:solidFill>
                            <a:srgbClr val="323232"/>
                          </a:solidFill>
                        </a:defRPr>
                      </a:pPr>
                    </a:p>
                  </a:txBody>
                  <a:tcPr marL="36576" marR="36576" marT="18288" marB="18288"/>
                </a:tc>
                <a:tc>
                  <a:txBody>
                    <a:bodyPr anchor="ctr" wrap="square"/>
                    <a:lstStyle/>
                    <a:p>
                      <a:pPr algn="l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74.56 ± 8.022</a:t>
                      </a:r>
                    </a:p>
                  </a:txBody>
                  <a:tcPr marL="36576" marR="36576" marT="18288" marB="18288"/>
                </a:tc>
              </a:tr>
              <a:tr h="283464">
                <a:tc>
                  <a:txBody>
                    <a:bodyPr anchor="ctr" wrap="square"/>
                    <a:lstStyle/>
                    <a:p>
                      <a:pPr algn="l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BMI</a:t>
                      </a:r>
                    </a:p>
                  </a:txBody>
                  <a:tcPr marL="36576" marR="36576" marT="18288" marB="18288"/>
                </a:tc>
                <a:tc>
                  <a:txBody>
                    <a:bodyPr anchor="ctr" wrap="square"/>
                    <a:lstStyle/>
                    <a:p>
                      <a:pPr algn="l">
                        <a:defRPr sz="1100">
                          <a:solidFill>
                            <a:srgbClr val="323232"/>
                          </a:solidFill>
                        </a:defRPr>
                      </a:pPr>
                    </a:p>
                  </a:txBody>
                  <a:tcPr marL="36576" marR="36576" marT="18288" marB="18288"/>
                </a:tc>
                <a:tc>
                  <a:txBody>
                    <a:bodyPr anchor="ctr" wrap="square"/>
                    <a:lstStyle/>
                    <a:p>
                      <a:pPr algn="l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24.4 ± 3.21</a:t>
                      </a:r>
                    </a:p>
                  </a:txBody>
                  <a:tcPr marL="36576" marR="36576" marT="18288" marB="18288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A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28700"/>
            <a:ext cx="182880" cy="4800600"/>
          </a:xfrm>
          <a:prstGeom prst="rect">
            <a:avLst/>
          </a:prstGeom>
          <a:solidFill>
            <a:srgbClr val="274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MEAN OF DEMOGRAPHIC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Graph 4.1 displays the mean of age and BMI</a:t>
            </a:r>
          </a:p>
          <a:p>
            <a:pPr>
              <a:defRPr sz="2000"/>
            </a:pPr>
            <a:r>
              <a:t>for old age</a:t>
            </a:r>
          </a:p>
          <a:p>
            <a:pPr>
              <a:defRPr sz="2000"/>
            </a:pPr>
            <a:r>
              <a:t>home individuals.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1828800"/>
            <a:ext cx="2743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[3D Icon/Chart]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AFAFC"/>
            </a:gs>
            <a:gs pos="100000">
              <a:srgbClr val="F0F5FA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Gender Distribution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554798"/>
          <a:ext cx="8229598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6435"/>
                <a:gridCol w="2496728"/>
                <a:gridCol w="2866435"/>
              </a:tblGrid>
              <a:tr h="320040">
                <a:tc>
                  <a:txBody>
                    <a:bodyPr anchor="ctr" wrap="square"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GENDER</a:t>
                      </a:r>
                    </a:p>
                  </a:txBody>
                  <a:tcPr marL="36576" marR="36576" marT="18288" marB="18288">
                    <a:solidFill>
                      <a:srgbClr val="2C3E50"/>
                    </a:solidFill>
                  </a:tcPr>
                </a:tc>
                <a:tc>
                  <a:txBody>
                    <a:bodyPr anchor="ctr" wrap="square"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FREQUENCY</a:t>
                      </a:r>
                    </a:p>
                  </a:txBody>
                  <a:tcPr marL="36576" marR="36576" marT="18288" marB="18288">
                    <a:solidFill>
                      <a:srgbClr val="2C3E50"/>
                    </a:solidFill>
                  </a:tcPr>
                </a:tc>
                <a:tc>
                  <a:txBody>
                    <a:bodyPr anchor="ctr" wrap="square"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PERCENTAGE</a:t>
                      </a:r>
                    </a:p>
                  </a:txBody>
                  <a:tcPr marL="36576" marR="36576" marT="18288" marB="18288">
                    <a:solidFill>
                      <a:srgbClr val="2C3E50"/>
                    </a:solidFill>
                  </a:tcPr>
                </a:tc>
              </a:tr>
              <a:tr h="283464">
                <a:tc>
                  <a:txBody>
                    <a:bodyPr anchor="ctr" wrap="square"/>
                    <a:lstStyle/>
                    <a:p>
                      <a:pPr algn="l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NO. OF FEMALE</a:t>
                      </a:r>
                    </a:p>
                  </a:txBody>
                  <a:tcPr marL="36576" marR="36576" marT="18288" marB="18288"/>
                </a:tc>
                <a:tc>
                  <a:txBody>
                    <a:bodyPr anchor="ctr" wrap="square"/>
                    <a:lstStyle/>
                    <a:p>
                      <a:pPr algn="l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 marL="36576" marR="36576" marT="18288" marB="18288"/>
                </a:tc>
                <a:tc>
                  <a:txBody>
                    <a:bodyPr anchor="ctr" wrap="square"/>
                    <a:lstStyle/>
                    <a:p>
                      <a:pPr algn="l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 marL="36576" marR="36576" marT="18288" marB="18288"/>
                </a:tc>
              </a:tr>
              <a:tr h="283464">
                <a:tc>
                  <a:txBody>
                    <a:bodyPr anchor="ctr" wrap="square"/>
                    <a:lstStyle/>
                    <a:p>
                      <a:pPr algn="l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NO. OF MALE</a:t>
                      </a:r>
                    </a:p>
                  </a:txBody>
                  <a:tcPr marL="36576" marR="36576" marT="18288" marB="18288"/>
                </a:tc>
                <a:tc>
                  <a:txBody>
                    <a:bodyPr anchor="ctr" wrap="square"/>
                    <a:lstStyle/>
                    <a:p>
                      <a:pPr algn="l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 marL="36576" marR="36576" marT="18288" marB="18288"/>
                </a:tc>
                <a:tc>
                  <a:txBody>
                    <a:bodyPr anchor="ctr" wrap="square"/>
                    <a:lstStyle/>
                    <a:p>
                      <a:pPr algn="l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 marL="36576" marR="36576" marT="18288" marB="18288"/>
                </a:tc>
              </a:tr>
              <a:tr h="283464">
                <a:tc>
                  <a:txBody>
                    <a:bodyPr anchor="ctr" wrap="square"/>
                    <a:lstStyle/>
                    <a:p>
                      <a:pPr algn="l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18288" marB="18288"/>
                </a:tc>
                <a:tc>
                  <a:txBody>
                    <a:bodyPr anchor="ctr" wrap="square"/>
                    <a:lstStyle/>
                    <a:p>
                      <a:pPr algn="l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120</a:t>
                      </a:r>
                    </a:p>
                  </a:txBody>
                  <a:tcPr marL="36576" marR="36576" marT="18288" marB="18288"/>
                </a:tc>
                <a:tc>
                  <a:txBody>
                    <a:bodyPr anchor="ctr" wrap="square"/>
                    <a:lstStyle/>
                    <a:p>
                      <a:pPr algn="l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marL="36576" marR="36576" marT="18288" marB="18288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A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8700"/>
            <a:ext cx="182880" cy="4800600"/>
          </a:xfrm>
          <a:prstGeom prst="rect">
            <a:avLst/>
          </a:prstGeom>
          <a:solidFill>
            <a:srgbClr val="274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Gender Distribution in Old Age</a:t>
            </a:r>
          </a:p>
          <a:p>
            <a:pPr algn="ctr">
              <a:defRPr sz="3600" b="1"/>
            </a:pPr>
            <a:r>
              <a:t>Home</a:t>
            </a:r>
          </a:p>
        </p:txBody>
      </p:sp>
      <p:pic>
        <p:nvPicPr>
          <p:cNvPr id="5" name="Picture 4" descr="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645920"/>
            <a:ext cx="54864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5778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i="1" sz="1600"/>
            </a:pPr>
            <a:r>
              <a:t>Graph 4.2 shows the 50% of male and 50% of female present in old age home individuals.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AFAFC"/>
            </a:gs>
            <a:gs pos="100000">
              <a:srgbClr val="F0F5FA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Mean ± SD of GDS and MBI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554798"/>
          <a:ext cx="8229600" cy="886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20040">
                <a:tc>
                  <a:txBody>
                    <a:bodyPr anchor="ctr" wrap="square"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OUTCOME MEASURES</a:t>
                      </a:r>
                    </a:p>
                  </a:txBody>
                  <a:tcPr marL="36576" marR="36576" marT="18288" marB="18288">
                    <a:solidFill>
                      <a:srgbClr val="2C3E50"/>
                    </a:solidFill>
                  </a:tcPr>
                </a:tc>
                <a:tc>
                  <a:txBody>
                    <a:bodyPr anchor="ctr" wrap="square"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MEAN ± SD</a:t>
                      </a:r>
                    </a:p>
                  </a:txBody>
                  <a:tcPr marL="36576" marR="36576" marT="18288" marB="18288">
                    <a:solidFill>
                      <a:srgbClr val="2C3E50"/>
                    </a:solidFill>
                  </a:tcPr>
                </a:tc>
              </a:tr>
              <a:tr h="283464">
                <a:tc>
                  <a:txBody>
                    <a:bodyPr anchor="ctr" wrap="square"/>
                    <a:lstStyle/>
                    <a:p>
                      <a:pPr algn="l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GDS</a:t>
                      </a:r>
                    </a:p>
                  </a:txBody>
                  <a:tcPr marL="36576" marR="36576" marT="18288" marB="18288"/>
                </a:tc>
                <a:tc>
                  <a:txBody>
                    <a:bodyPr anchor="ctr" wrap="square"/>
                    <a:lstStyle/>
                    <a:p>
                      <a:pPr algn="l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8.03 ± 1.56</a:t>
                      </a:r>
                    </a:p>
                  </a:txBody>
                  <a:tcPr marL="36576" marR="36576" marT="18288" marB="18288"/>
                </a:tc>
              </a:tr>
              <a:tr h="283464">
                <a:tc>
                  <a:txBody>
                    <a:bodyPr anchor="ctr" wrap="square"/>
                    <a:lstStyle/>
                    <a:p>
                      <a:pPr algn="l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MBI</a:t>
                      </a:r>
                    </a:p>
                  </a:txBody>
                  <a:tcPr marL="36576" marR="36576" marT="18288" marB="18288"/>
                </a:tc>
                <a:tc>
                  <a:txBody>
                    <a:bodyPr anchor="ctr" wrap="square"/>
                    <a:lstStyle/>
                    <a:p>
                      <a:pPr algn="l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19.91 ± 5.78</a:t>
                      </a:r>
                    </a:p>
                  </a:txBody>
                  <a:tcPr marL="36576" marR="36576" marT="18288" marB="18288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A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28700"/>
            <a:ext cx="182880" cy="4800600"/>
          </a:xfrm>
          <a:prstGeom prst="rect">
            <a:avLst/>
          </a:prstGeom>
          <a:solidFill>
            <a:srgbClr val="274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MEAN OF OUTCOME MEASURE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Graph 4.3 shows the Mean values of Geriatric</a:t>
            </a:r>
          </a:p>
          <a:p>
            <a:pPr>
              <a:defRPr sz="2000"/>
            </a:pPr>
            <a:r>
              <a:t>depression</a:t>
            </a:r>
          </a:p>
          <a:p>
            <a:pPr>
              <a:defRPr sz="2000"/>
            </a:pPr>
            <a:r>
              <a:t>scale and Maslanch burnout inventory.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1828800"/>
            <a:ext cx="2743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[3D Icon/Chart]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AFAFC"/>
            </a:gs>
            <a:gs pos="100000">
              <a:srgbClr val="F0F5FA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Prevalence of Depression in Old Age Home Individuals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554798"/>
          <a:ext cx="822960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20040">
                <a:tc>
                  <a:txBody>
                    <a:bodyPr anchor="ctr" wrap="square"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PREVALENCE OF DEPRESSION</a:t>
                      </a:r>
                    </a:p>
                  </a:txBody>
                  <a:tcPr marL="36576" marR="36576" marT="18288" marB="18288">
                    <a:solidFill>
                      <a:srgbClr val="2C3E50"/>
                    </a:solidFill>
                  </a:tcPr>
                </a:tc>
                <a:tc>
                  <a:txBody>
                    <a:bodyPr anchor="ctr" wrap="square"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PARTICIPANTS</a:t>
                      </a:r>
                    </a:p>
                  </a:txBody>
                  <a:tcPr marL="36576" marR="36576" marT="18288" marB="18288">
                    <a:solidFill>
                      <a:srgbClr val="2C3E50"/>
                    </a:solidFill>
                  </a:tcPr>
                </a:tc>
              </a:tr>
              <a:tr h="283464">
                <a:tc>
                  <a:txBody>
                    <a:bodyPr anchor="ctr" wrap="square"/>
                    <a:lstStyle/>
                    <a:p>
                      <a:pPr algn="l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Mild Depression</a:t>
                      </a:r>
                    </a:p>
                  </a:txBody>
                  <a:tcPr marL="36576" marR="36576" marT="18288" marB="18288"/>
                </a:tc>
                <a:tc>
                  <a:txBody>
                    <a:bodyPr anchor="ctr" wrap="square"/>
                    <a:lstStyle/>
                    <a:p>
                      <a:pPr algn="l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62.5%</a:t>
                      </a:r>
                    </a:p>
                  </a:txBody>
                  <a:tcPr marL="36576" marR="36576" marT="18288" marB="18288"/>
                </a:tc>
              </a:tr>
              <a:tr h="283464">
                <a:tc>
                  <a:txBody>
                    <a:bodyPr anchor="ctr" wrap="square"/>
                    <a:lstStyle/>
                    <a:p>
                      <a:pPr algn="l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Moderate Depression</a:t>
                      </a:r>
                    </a:p>
                  </a:txBody>
                  <a:tcPr marL="36576" marR="36576" marT="18288" marB="18288"/>
                </a:tc>
                <a:tc>
                  <a:txBody>
                    <a:bodyPr anchor="ctr" wrap="square"/>
                    <a:lstStyle/>
                    <a:p>
                      <a:pPr algn="l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35.83%</a:t>
                      </a:r>
                    </a:p>
                  </a:txBody>
                  <a:tcPr marL="36576" marR="36576" marT="18288" marB="18288"/>
                </a:tc>
              </a:tr>
              <a:tr h="283464">
                <a:tc>
                  <a:txBody>
                    <a:bodyPr anchor="ctr" wrap="square"/>
                    <a:lstStyle/>
                    <a:p>
                      <a:pPr algn="l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Severe Depression</a:t>
                      </a:r>
                    </a:p>
                  </a:txBody>
                  <a:tcPr marL="36576" marR="36576" marT="18288" marB="18288"/>
                </a:tc>
                <a:tc>
                  <a:txBody>
                    <a:bodyPr anchor="ctr" wrap="square"/>
                    <a:lstStyle/>
                    <a:p>
                      <a:pPr algn="l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1.66%</a:t>
                      </a:r>
                    </a:p>
                  </a:txBody>
                  <a:tcPr marL="36576" marR="36576" marT="18288" marB="18288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A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/>
            </a:pPr>
            <a:r>
              <a:t>PREVALENCE OF DEPRESSION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A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28700"/>
            <a:ext cx="182880" cy="4800600"/>
          </a:xfrm>
          <a:prstGeom prst="rect">
            <a:avLst/>
          </a:prstGeom>
          <a:solidFill>
            <a:srgbClr val="274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GRAPH 4.4 : PREVALANCE </a:t>
            </a:r>
          </a:p>
          <a:p>
            <a:pPr>
              <a:defRPr sz="3600" b="1"/>
            </a:pPr>
            <a:r>
              <a:t>OF DEPRESSION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SEVERE</a:t>
            </a:r>
          </a:p>
          <a:p>
            <a:pPr>
              <a:defRPr sz="2000"/>
            </a:pPr>
            <a:r>
              <a:t>1.66%</a:t>
            </a:r>
          </a:p>
          <a:p>
            <a:pPr>
              <a:defRPr sz="2000"/>
            </a:pPr>
            <a:r>
              <a:t>MODERATE</a:t>
            </a:r>
          </a:p>
          <a:p>
            <a:pPr>
              <a:defRPr sz="2000"/>
            </a:pPr>
            <a:r>
              <a:t>35.83%</a:t>
            </a:r>
          </a:p>
          <a:p>
            <a:pPr>
              <a:defRPr sz="2000"/>
            </a:pPr>
            <a:r>
              <a:t>MILD</a:t>
            </a:r>
          </a:p>
          <a:p>
            <a:pPr>
              <a:defRPr sz="2000"/>
            </a:pPr>
            <a:r>
              <a:t>62.5%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1828800"/>
            <a:ext cx="2743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[3D Icon/Chart]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AFAFC"/>
            </a:gs>
            <a:gs pos="100000">
              <a:srgbClr val="F0F5FA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TABLE 4.5 : PREVALENCE OF BURNOUT IN OLD AGE HOME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554798"/>
          <a:ext cx="822960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20040">
                <a:tc>
                  <a:txBody>
                    <a:bodyPr anchor="ctr" wrap="square"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PARTICIPANTS</a:t>
                      </a:r>
                    </a:p>
                  </a:txBody>
                  <a:tcPr marL="36576" marR="36576" marT="18288" marB="18288">
                    <a:solidFill>
                      <a:srgbClr val="2C3E50"/>
                    </a:solidFill>
                  </a:tcPr>
                </a:tc>
                <a:tc>
                  <a:txBody>
                    <a:bodyPr anchor="ctr" wrap="square"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PREVALANCE OF</a:t>
                      </a:r>
                    </a:p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BURNOUT</a:t>
                      </a:r>
                    </a:p>
                  </a:txBody>
                  <a:tcPr marL="36576" marR="36576" marT="18288" marB="18288">
                    <a:solidFill>
                      <a:srgbClr val="2C3E50"/>
                    </a:solidFill>
                  </a:tcPr>
                </a:tc>
              </a:tr>
              <a:tr h="283464">
                <a:tc>
                  <a:txBody>
                    <a:bodyPr anchor="ctr" wrap="square"/>
                    <a:lstStyle/>
                    <a:p>
                      <a:pPr algn="l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Mild Burnout</a:t>
                      </a:r>
                    </a:p>
                  </a:txBody>
                  <a:tcPr marL="36576" marR="36576" marT="18288" marB="18288"/>
                </a:tc>
                <a:tc>
                  <a:txBody>
                    <a:bodyPr anchor="ctr" wrap="square"/>
                    <a:lstStyle/>
                    <a:p>
                      <a:pPr algn="l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marL="36576" marR="36576" marT="18288" marB="18288"/>
                </a:tc>
              </a:tr>
              <a:tr h="283464">
                <a:tc>
                  <a:txBody>
                    <a:bodyPr anchor="ctr" wrap="square"/>
                    <a:lstStyle/>
                    <a:p>
                      <a:pPr algn="l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Moderate Burnout</a:t>
                      </a:r>
                    </a:p>
                  </a:txBody>
                  <a:tcPr marL="36576" marR="36576" marT="18288" marB="18288"/>
                </a:tc>
                <a:tc>
                  <a:txBody>
                    <a:bodyPr anchor="ctr" wrap="square"/>
                    <a:lstStyle/>
                    <a:p>
                      <a:pPr algn="l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62.5%</a:t>
                      </a:r>
                    </a:p>
                  </a:txBody>
                  <a:tcPr marL="36576" marR="36576" marT="18288" marB="18288"/>
                </a:tc>
              </a:tr>
              <a:tr h="283464">
                <a:tc>
                  <a:txBody>
                    <a:bodyPr anchor="ctr" wrap="square"/>
                    <a:lstStyle/>
                    <a:p>
                      <a:pPr algn="l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Severe Burnout</a:t>
                      </a:r>
                    </a:p>
                  </a:txBody>
                  <a:tcPr marL="36576" marR="36576" marT="18288" marB="18288"/>
                </a:tc>
                <a:tc>
                  <a:txBody>
                    <a:bodyPr anchor="ctr" wrap="square"/>
                    <a:lstStyle/>
                    <a:p>
                      <a:pPr algn="l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7.5%</a:t>
                      </a:r>
                    </a:p>
                  </a:txBody>
                  <a:tcPr marL="36576" marR="36576" marT="18288" marB="18288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A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172200"/>
            <a:ext cx="9144000" cy="685800"/>
          </a:xfrm>
          <a:prstGeom prst="rect">
            <a:avLst/>
          </a:prstGeom>
          <a:solidFill>
            <a:srgbClr val="274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Table 4.5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Table 4.5 shows for 120 participants interpretation of burnout score was found as followings : result showed that 30% out of 120 older individuals had mild burnout , 62.5% had moderate burnout , 7.5% had severe burnout as evaluated using Maslanch Burnout inventory 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A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28700"/>
            <a:ext cx="182880" cy="4800600"/>
          </a:xfrm>
          <a:prstGeom prst="rect">
            <a:avLst/>
          </a:prstGeom>
          <a:solidFill>
            <a:srgbClr val="274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GRAPH 4.6: PREVALANCE </a:t>
            </a:r>
          </a:p>
          <a:p>
            <a:pPr>
              <a:defRPr sz="3600" b="1"/>
            </a:pPr>
            <a:r>
              <a:t>OF BURNOUT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Mild</a:t>
            </a:r>
          </a:p>
          <a:p>
            <a:pPr>
              <a:defRPr sz="2000"/>
            </a:pPr>
            <a:r>
              <a:t>30%</a:t>
            </a:r>
          </a:p>
          <a:p>
            <a:pPr>
              <a:defRPr sz="2000"/>
            </a:pPr>
            <a:r>
              <a:t>Moderate</a:t>
            </a:r>
          </a:p>
          <a:p>
            <a:pPr>
              <a:defRPr sz="2000"/>
            </a:pPr>
            <a:r>
              <a:t>62.5%</a:t>
            </a:r>
          </a:p>
          <a:p>
            <a:pPr>
              <a:defRPr sz="2000"/>
            </a:pPr>
            <a:r>
              <a:t>Severe</a:t>
            </a:r>
          </a:p>
          <a:p>
            <a:pPr>
              <a:defRPr sz="2000"/>
            </a:pPr>
            <a:r>
              <a:t>7.5%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1828800"/>
            <a:ext cx="2743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[3D Icon/Chart]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A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8700"/>
            <a:ext cx="182880" cy="4800600"/>
          </a:xfrm>
          <a:prstGeom prst="rect">
            <a:avLst/>
          </a:prstGeom>
          <a:solidFill>
            <a:srgbClr val="274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GRAPH 4.7: PREVALANCE OF</a:t>
            </a:r>
          </a:p>
          <a:p>
            <a:pPr algn="ctr">
              <a:defRPr sz="3600" b="1"/>
            </a:pPr>
            <a:r>
              <a:t>BURNOUT</a:t>
            </a:r>
          </a:p>
        </p:txBody>
      </p:sp>
      <p:pic>
        <p:nvPicPr>
          <p:cNvPr id="5" name="Picture 4" descr="pag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645920"/>
            <a:ext cx="54864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5778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i="1" sz="1600"/>
            </a:pPr>
            <a:r>
              <a:t>Graphical representation of burnout prevalence.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