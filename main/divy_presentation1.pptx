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Project Tiger</a:t>
            </a:r>
          </a:p>
        </p:txBody>
      </p:sp>
      <p:sp>
        <p:nvSpPr>
          <p:cNvPr id="3" name="Subtitle 2"/>
          <p:cNvSpPr>
            <a:spLocks noGrp="1"/>
          </p:cNvSpPr>
          <p:nvPr>
            <p:ph type="subTitle" idx="1"/>
          </p:nvPr>
        </p:nvSpPr>
        <p:spPr/>
        <p:txBody>
          <a:bodyPr/>
          <a:lstStyle/>
          <a:p>
            <a:pPr>
              <a:defRPr sz="2400" i="1"/>
            </a:pPr>
            <a:r>
              <a:t>Revised Guidelines for the Ongoing Centrally Sponsored Scheme </a:t>
            </a:r>
          </a:p>
          <a:p>
            <a:pPr>
              <a:defRPr sz="2400" i="1"/>
            </a:pPr>
            <a:r>
              <a:t>Ministry of Environment &amp; Forests </a:t>
            </a:r>
          </a:p>
          <a:p>
            <a:pPr>
              <a:defRPr sz="2400" i="1"/>
            </a:pPr>
            <a:r>
              <a:t>Government of India </a:t>
            </a:r>
          </a:p>
          <a:p>
            <a:pPr>
              <a:defRPr sz="2400" i="1"/>
            </a:pPr>
            <a:r>
              <a:t>February, 2008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182880" cy="48006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914400"/>
          </a:xfrm>
          <a:prstGeom prst="rect">
            <a:avLst/>
          </a:prstGeom>
          <a:noFill/>
        </p:spPr>
        <p:txBody>
          <a:bodyPr wrap="none">
            <a:spAutoFit/>
          </a:bodyPr>
          <a:lstStyle/>
          <a:p>
            <a:pPr algn="ctr">
              <a:defRPr sz="3600" b="1"/>
            </a:pPr>
            <a:r>
              <a:t>National Tiger Conservation</a:t>
            </a:r>
          </a:p>
          <a:p>
            <a:pPr algn="ctr">
              <a:defRPr sz="3600" b="1"/>
            </a:pPr>
            <a:r>
              <a:t>Authority</a:t>
            </a:r>
          </a:p>
        </p:txBody>
      </p:sp>
      <p:pic>
        <p:nvPicPr>
          <p:cNvPr id="5" name="Picture 4" descr="page_1.png"/>
          <p:cNvPicPr>
            <a:picLocks noChangeAspect="1"/>
          </p:cNvPicPr>
          <p:nvPr/>
        </p:nvPicPr>
        <p:blipFill>
          <a:blip r:embed="rId2"/>
          <a:stretch>
            <a:fillRect/>
          </a:stretch>
        </p:blipFill>
        <p:spPr>
          <a:xfrm>
            <a:off x="1828800" y="1645920"/>
            <a:ext cx="5486400" cy="3657600"/>
          </a:xfrm>
          <a:prstGeom prst="rect">
            <a:avLst/>
          </a:prstGeom>
        </p:spPr>
      </p:pic>
      <p:sp>
        <p:nvSpPr>
          <p:cNvPr id="6" name="TextBox 5"/>
          <p:cNvSpPr txBox="1"/>
          <p:nvPr/>
        </p:nvSpPr>
        <p:spPr>
          <a:xfrm>
            <a:off x="914400" y="5577840"/>
            <a:ext cx="7315200" cy="914400"/>
          </a:xfrm>
          <a:prstGeom prst="rect">
            <a:avLst/>
          </a:prstGeom>
          <a:noFill/>
        </p:spPr>
        <p:txBody>
          <a:bodyPr wrap="none">
            <a:spAutoFit/>
          </a:bodyPr>
          <a:lstStyle/>
          <a:p>
            <a:pPr algn="ctr">
              <a:defRPr i="1" sz="1600"/>
            </a:pPr>
            <a:r>
              <a:t>Ministry of Environment &amp; Forests Government of India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a:t>
            </a:r>
          </a:p>
        </p:txBody>
      </p:sp>
      <p:sp>
        <p:nvSpPr>
          <p:cNvPr id="3" name="Content Placeholder 2"/>
          <p:cNvSpPr>
            <a:spLocks noGrp="1"/>
          </p:cNvSpPr>
          <p:nvPr>
            <p:ph idx="1"/>
          </p:nvPr>
        </p:nvSpPr>
        <p:spPr/>
        <p:txBody>
          <a:bodyPr/>
          <a:lstStyle/>
          <a:p>
            <a:pPr>
              <a:defRPr sz="2000"/>
            </a:pPr>
            <a:r>
              <a:t>Project Tiger is an ongoing Centrally Sponsored Scheme of the Ministry of Environment and Forests. The revised guidelines incorporate the additional activities for implementing the urgent recommendations of the Tiger Task Force.</a:t>
            </a:r>
          </a:p>
          <a:p>
            <a:pPr>
              <a:defRPr sz="2000"/>
            </a:pPr>
          </a:p>
          <a:p>
            <a:pPr>
              <a:defRPr sz="2000"/>
            </a:pPr>
            <a:r>
              <a:t>These include support for implementing the Wild Life (Protection) Amendment Act, 2006. The activities are as below:</a:t>
            </a:r>
          </a:p>
          <a:p>
            <a:pPr>
              <a:defRPr sz="2000"/>
            </a:pPr>
          </a:p>
          <a:p>
            <a:pPr>
              <a:defRPr sz="2000"/>
            </a:pPr>
            <a:r>
              <a:t>(i) Antipoaching initiatives</a:t>
            </a:r>
          </a:p>
          <a:p>
            <a:pPr>
              <a:defRPr sz="2000"/>
            </a:pPr>
            <a:r>
              <a:t>(ii) Strengthening infrastructure within tiger reserves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 (cont.)</a:t>
            </a:r>
          </a:p>
        </p:txBody>
      </p:sp>
      <p:sp>
        <p:nvSpPr>
          <p:cNvPr id="3" name="Content Placeholder 2"/>
          <p:cNvSpPr>
            <a:spLocks noGrp="1"/>
          </p:cNvSpPr>
          <p:nvPr>
            <p:ph idx="1"/>
          </p:nvPr>
        </p:nvSpPr>
        <p:spPr/>
        <p:txBody>
          <a:bodyPr/>
          <a:lstStyle/>
          <a:p>
            <a:pPr>
              <a:defRPr sz="2000"/>
            </a:pPr>
            <a:r>
              <a:t>(iii) Habitat improvement and water development</a:t>
            </a:r>
          </a:p>
          <a:p>
            <a:pPr>
              <a:defRPr sz="2000"/>
            </a:pPr>
            <a:r>
              <a:t>(iv) Addressing man-animal conflicts</a:t>
            </a:r>
          </a:p>
          <a:p>
            <a:pPr>
              <a:defRPr sz="2000"/>
            </a:pPr>
            <a:r>
              <a:t>(v) Co-existence agenda in buffer / fringe areas with landscape approach</a:t>
            </a:r>
          </a:p>
          <a:p>
            <a:pPr>
              <a:defRPr sz="2000"/>
            </a:pPr>
            <a:r>
              <a:t>(vi) Deciding inviolate spaces and relocation of villages from crucial tiger habitats</a:t>
            </a:r>
          </a:p>
          <a:p>
            <a:pPr>
              <a:defRPr sz="2000"/>
            </a:pPr>
            <a:r>
              <a:t>(vii) Rehabilitation of traditional hunting tribes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 (cont.)</a:t>
            </a:r>
          </a:p>
        </p:txBody>
      </p:sp>
      <p:sp>
        <p:nvSpPr>
          <p:cNvPr id="3" name="Content Placeholder 2"/>
          <p:cNvSpPr>
            <a:spLocks noGrp="1"/>
          </p:cNvSpPr>
          <p:nvPr>
            <p:ph idx="1"/>
          </p:nvPr>
        </p:nvSpPr>
        <p:spPr/>
        <p:txBody>
          <a:bodyPr/>
          <a:lstStyle/>
          <a:p>
            <a:pPr>
              <a:defRPr sz="2000"/>
            </a:pPr>
            <a:r>
              <a:t>(viii) Providing support to States for research and field equipments</a:t>
            </a:r>
          </a:p>
          <a:p>
            <a:pPr>
              <a:defRPr sz="2000"/>
            </a:pPr>
            <a:r>
              <a:t>(ix) Supporting States for staff development and capacity building</a:t>
            </a:r>
          </a:p>
          <a:p>
            <a:pPr>
              <a:defRPr sz="2000"/>
            </a:pPr>
            <a:r>
              <a:t>(x) Mainstreaming wildlife concerns in tiger bearing forests outside tiger reserves</a:t>
            </a:r>
          </a:p>
          <a:p>
            <a:pPr>
              <a:defRPr sz="2000"/>
            </a:pPr>
            <a:r>
              <a:t>(xi) Providing safeguards / retrofitting measures in and around tiger reserves</a:t>
            </a:r>
          </a:p>
          <a:p>
            <a:pPr>
              <a:defRPr sz="2000"/>
            </a:pPr>
            <a:r>
              <a:t>(xii) Strengthening the infrastructure of National Tiger Conservation Authority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Introduction (cont.)</a:t>
            </a:r>
          </a:p>
        </p:txBody>
      </p:sp>
      <p:sp>
        <p:nvSpPr>
          <p:cNvPr id="3" name="Content Placeholder 2"/>
          <p:cNvSpPr>
            <a:spLocks noGrp="1"/>
          </p:cNvSpPr>
          <p:nvPr>
            <p:ph idx="1"/>
          </p:nvPr>
        </p:nvSpPr>
        <p:spPr/>
        <p:txBody>
          <a:bodyPr/>
          <a:lstStyle/>
          <a:p>
            <a:pPr>
              <a:defRPr sz="2000"/>
            </a:pPr>
            <a:r>
              <a:t>(xiii) Carrying out independent monitoring and the evaluation of tiger reserves.</a:t>
            </a:r>
          </a:p>
          <a:p>
            <a:pPr>
              <a:defRPr sz="2000"/>
            </a:pPr>
            <a:r>
              <a:t>(xiv) Establishment and development of eight new tiger reserves.</a:t>
            </a:r>
          </a:p>
          <a:p>
            <a:pPr>
              <a:defRPr sz="2000"/>
            </a:pPr>
            <a:r>
              <a:t>(xv) Provision of project allowance to all categories of staff working in tiger reserves.</a:t>
            </a:r>
          </a:p>
          <a:p>
            <a:pPr>
              <a:defRPr sz="2000"/>
            </a:pPr>
            <a:r>
              <a:t>(xvi) Providing residential amenities to facilitate basic education to children of frontline field staff.</a:t>
            </a:r>
          </a:p>
          <a:p>
            <a:pPr>
              <a:defRPr sz="2000"/>
            </a:pPr>
            <a:r>
              <a:t>(xvii) Providing assistance to States for fostering ecotourism to benefit local people.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Tiger Objectives</a:t>
            </a:r>
          </a:p>
        </p:txBody>
      </p:sp>
      <p:sp>
        <p:nvSpPr>
          <p:cNvPr id="3" name="Content Placeholder 2"/>
          <p:cNvSpPr>
            <a:spLocks noGrp="1"/>
          </p:cNvSpPr>
          <p:nvPr>
            <p:ph idx="1"/>
          </p:nvPr>
        </p:nvSpPr>
        <p:spPr/>
        <p:txBody>
          <a:bodyPr/>
          <a:lstStyle/>
          <a:p>
            <a:pPr>
              <a:defRPr sz="2000"/>
            </a:pPr>
            <a:r>
              <a:t>Launched in April, 1973 with the objective to:</a:t>
            </a:r>
          </a:p>
          <a:p>
            <a:pPr>
              <a:defRPr sz="2000"/>
            </a:pPr>
          </a:p>
          <a:p>
            <a:pPr>
              <a:defRPr sz="2000"/>
            </a:pPr>
            <a:r>
              <a:t>“ensure maintenance of a viable population of Tigers in India for scientific, economic, aesthetic, cultural and ecological values, and to preserve for all times, areas of biological importance as a national heritage for the benefit, education and enjoyment of the people”.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Current Status</a:t>
            </a:r>
          </a:p>
        </p:txBody>
      </p:sp>
      <p:sp>
        <p:nvSpPr>
          <p:cNvPr id="3" name="Content Placeholder 2"/>
          <p:cNvSpPr>
            <a:spLocks noGrp="1"/>
          </p:cNvSpPr>
          <p:nvPr>
            <p:ph idx="1"/>
          </p:nvPr>
        </p:nvSpPr>
        <p:spPr/>
        <p:txBody>
          <a:bodyPr/>
          <a:lstStyle/>
          <a:p>
            <a:pPr>
              <a:defRPr sz="2000"/>
            </a:pPr>
            <a:r>
              <a:t>The Project has been successfully implemented.</a:t>
            </a:r>
          </a:p>
          <a:p>
            <a:pPr>
              <a:defRPr sz="2000"/>
            </a:pPr>
          </a:p>
          <a:p>
            <a:pPr>
              <a:defRPr sz="2000"/>
            </a:pPr>
            <a:r>
              <a:t>At present there are 28 Tiger Reserves in 17 states, covering an area of 37761 sq. km.</a:t>
            </a:r>
          </a:p>
          <a:p>
            <a:pPr>
              <a:defRPr sz="2000"/>
            </a:pPr>
          </a:p>
          <a:p>
            <a:pPr>
              <a:defRPr sz="2000"/>
            </a:pPr>
            <a:r>
              <a:t>‘In principle’ approval for creation of eight new Tiger Reserves has been accorded. The selection of reserves was guided by the need to conserve unique ecosystem/habitat types across the geographic distribution of tigers in the country.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Funding and Activities</a:t>
            </a:r>
          </a:p>
        </p:txBody>
      </p:sp>
      <p:sp>
        <p:nvSpPr>
          <p:cNvPr id="3" name="Content Placeholder 2"/>
          <p:cNvSpPr>
            <a:spLocks noGrp="1"/>
          </p:cNvSpPr>
          <p:nvPr>
            <p:ph idx="1"/>
          </p:nvPr>
        </p:nvSpPr>
        <p:spPr/>
        <p:txBody>
          <a:bodyPr/>
          <a:lstStyle/>
          <a:p>
            <a:pPr>
              <a:defRPr sz="2000"/>
            </a:pPr>
            <a:r>
              <a:t>Project Tiger is an ongoing Centrally Sponsored Scheme, continued in the XIth five-year Plan.</a:t>
            </a:r>
          </a:p>
          <a:p>
            <a:pPr>
              <a:defRPr sz="2000"/>
            </a:pPr>
          </a:p>
          <a:p>
            <a:pPr>
              <a:defRPr sz="2000"/>
            </a:pPr>
            <a:r>
              <a:t>100% Central Assistance is available to States for all non-recurring items. For recurring items, Central Assistance is restricted to 50% of the expenditure.</a:t>
            </a:r>
          </a:p>
          <a:p>
            <a:pPr>
              <a:defRPr sz="200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Funding and Activities (cont.)</a:t>
            </a:r>
          </a:p>
        </p:txBody>
      </p:sp>
      <p:sp>
        <p:nvSpPr>
          <p:cNvPr id="3" name="Content Placeholder 2"/>
          <p:cNvSpPr>
            <a:spLocks noGrp="1"/>
          </p:cNvSpPr>
          <p:nvPr>
            <p:ph idx="1"/>
          </p:nvPr>
        </p:nvSpPr>
        <p:spPr/>
        <p:txBody>
          <a:bodyPr/>
          <a:lstStyle/>
          <a:p>
            <a:pPr>
              <a:defRPr sz="2000"/>
            </a:pPr>
            <a:r>
              <a:t>Activities include strengthening protection, deploying armed squads, infrastructure, habitat development, water resources, eco-development, village relocation, IT for crime detection, digitized database, monitoring, All India Estimation of Tigers, co-predators and prey, continuous monitoring of tiger populations, fostering wildlife viewing, compensation for human deaths/livestock depredation, staff welfare, Project Allowance, veterinary facility, research, and vehicle replacement.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National Tiger Conservation Authority</a:t>
            </a:r>
          </a:p>
        </p:txBody>
      </p:sp>
      <p:sp>
        <p:nvSpPr>
          <p:cNvPr id="3" name="Subtitle 2"/>
          <p:cNvSpPr>
            <a:spLocks noGrp="1"/>
          </p:cNvSpPr>
          <p:nvPr>
            <p:ph type="subTitle" idx="1"/>
          </p:nvPr>
        </p:nvSpPr>
        <p:spPr/>
        <p:txBody>
          <a:bodyPr/>
          <a:lstStyle/>
          <a:p>
            <a:pPr>
              <a:defRPr sz="2400" i="1"/>
            </a:pPr>
            <a:r>
              <a:t>Constitution and Ongoing Activities under the Project Tiger Scheme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Constitution of the NTCA</a:t>
            </a:r>
          </a:p>
        </p:txBody>
      </p:sp>
      <p:sp>
        <p:nvSpPr>
          <p:cNvPr id="3" name="Content Placeholder 2"/>
          <p:cNvSpPr>
            <a:spLocks noGrp="1"/>
          </p:cNvSpPr>
          <p:nvPr>
            <p:ph idx="1"/>
          </p:nvPr>
        </p:nvSpPr>
        <p:spPr/>
        <p:txBody>
          <a:bodyPr/>
          <a:lstStyle/>
          <a:p>
            <a:pPr>
              <a:defRPr sz="2000"/>
            </a:pPr>
            <a:r>
              <a:t>The Govt. of India launched “Project Tiger” to conserve tigers, acknowledging its significance beyond state boundaries. Management of forests and wildlife is primarily the responsibility of concerned States. Project Tiger Directorate provided technical guidance and funding support.</a:t>
            </a:r>
          </a:p>
          <a:p>
            <a:pPr>
              <a:defRPr sz="2000"/>
            </a:pPr>
          </a:p>
          <a:p>
            <a:pPr>
              <a:defRPr sz="2000"/>
            </a:pPr>
            <a:r>
              <a:t>Implementation highlighted the need for a statutory authority with legal backing. A Task Force recommended strengthening Project Tiger with statutory and administrative powers, creating the Wildlife Crime Control Bureau, and submitting an annual report to Parliament.</a:t>
            </a:r>
          </a:p>
          <a:p>
            <a:pPr>
              <a:defRPr sz="2000"/>
            </a:pPr>
          </a:p>
          <a:p>
            <a:pPr>
              <a:defRPr sz="2000"/>
            </a:pPr>
            <a:r>
              <a:t>Urgent recommendations of the Task Force included:</a:t>
            </a:r>
          </a:p>
          <a:p>
            <a:pPr>
              <a:defRPr sz="2000"/>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Constitution of the NTCA (cont.)</a:t>
            </a:r>
          </a:p>
        </p:txBody>
      </p:sp>
      <p:sp>
        <p:nvSpPr>
          <p:cNvPr id="3" name="Content Placeholder 2"/>
          <p:cNvSpPr>
            <a:spLocks noGrp="1"/>
          </p:cNvSpPr>
          <p:nvPr>
            <p:ph idx="1"/>
          </p:nvPr>
        </p:nvSpPr>
        <p:spPr/>
        <p:txBody>
          <a:bodyPr/>
          <a:lstStyle/>
          <a:p>
            <a:pPr>
              <a:defRPr sz="2000"/>
            </a:pPr>
            <a:r>
              <a:t>* Reinvigorating governance.</a:t>
            </a:r>
          </a:p>
          <a:p>
            <a:pPr>
              <a:defRPr sz="2000"/>
            </a:pPr>
            <a:r>
              <a:t>* Strengthening tiger protection, checking poaching, convicting criminals, and breaking international trade networks.</a:t>
            </a:r>
          </a:p>
          <a:p>
            <a:pPr>
              <a:defRPr sz="2000"/>
            </a:pPr>
            <a:r>
              <a:t>* Expanding undisturbed areas.</a:t>
            </a:r>
          </a:p>
          <a:p>
            <a:pPr>
              <a:defRPr sz="2000"/>
            </a:pPr>
            <a:r>
              <a:t>* Repairing relationships with local people through coexistence strategies.</a:t>
            </a:r>
          </a:p>
          <a:p>
            <a:pPr>
              <a:defRPr sz="2000"/>
            </a:pPr>
            <a:r>
              <a:t>* Regenerating forest habitats by investing in local economies.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Ecological Disturbances &amp; Constraints</a:t>
            </a:r>
          </a:p>
        </p:txBody>
      </p:sp>
      <p:sp>
        <p:nvSpPr>
          <p:cNvPr id="3" name="Content Placeholder 2"/>
          <p:cNvSpPr>
            <a:spLocks noGrp="1"/>
          </p:cNvSpPr>
          <p:nvPr>
            <p:ph idx="1"/>
          </p:nvPr>
        </p:nvSpPr>
        <p:spPr/>
        <p:txBody>
          <a:bodyPr/>
          <a:lstStyle/>
          <a:p>
            <a:pPr>
              <a:defRPr sz="2000"/>
            </a:pPr>
            <a:r>
              <a:t>Tiger Reserves face ecological disturbances and problems:</a:t>
            </a:r>
          </a:p>
          <a:p>
            <a:pPr>
              <a:defRPr sz="2000"/>
            </a:pPr>
          </a:p>
          <a:p>
            <a:pPr>
              <a:defRPr sz="2000"/>
            </a:pPr>
            <a:r>
              <a:t>* Fragmentation of habitats due to overuse and conflicting land uses.</a:t>
            </a:r>
          </a:p>
          <a:p>
            <a:pPr>
              <a:defRPr sz="2000"/>
            </a:pPr>
            <a:r>
              <a:t>* Significant village populations and cattle grazing leading to degradation.</a:t>
            </a:r>
          </a:p>
          <a:p>
            <a:pPr>
              <a:defRPr sz="2000"/>
            </a:pPr>
            <a:r>
              <a:t>* Disturbances from temples and commercial entities like tea estates.</a:t>
            </a:r>
          </a:p>
          <a:p>
            <a:pPr>
              <a:defRPr sz="2000"/>
            </a:pPr>
            <a:r>
              <a:t>* Man-animal conflicts resulting in mortality.</a:t>
            </a:r>
          </a:p>
          <a:p>
            <a:pPr>
              <a:defRPr sz="2000"/>
            </a:pPr>
          </a:p>
          <a:p>
            <a:pPr>
              <a:defRPr sz="2000"/>
            </a:pPr>
            <a:r>
              <a:t>Constraints affecting implementation: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Ecological Disturbances &amp; Constraints (cont.)</a:t>
            </a:r>
          </a:p>
        </p:txBody>
      </p:sp>
      <p:sp>
        <p:nvSpPr>
          <p:cNvPr id="3" name="Content Placeholder 2"/>
          <p:cNvSpPr>
            <a:spLocks noGrp="1"/>
          </p:cNvSpPr>
          <p:nvPr>
            <p:ph idx="1"/>
          </p:nvPr>
        </p:nvSpPr>
        <p:spPr/>
        <p:txBody>
          <a:bodyPr/>
          <a:lstStyle/>
          <a:p>
            <a:pPr>
              <a:defRPr sz="2000"/>
            </a:pPr>
          </a:p>
          <a:p>
            <a:pPr>
              <a:defRPr sz="2000"/>
            </a:pPr>
            <a:r>
              <a:t>* Delayed release of Central Assistance.</a:t>
            </a:r>
          </a:p>
          <a:p>
            <a:pPr>
              <a:defRPr sz="2000"/>
            </a:pPr>
            <a:r>
              <a:t>* Staff vacancies and ageing workforce.</a:t>
            </a:r>
          </a:p>
          <a:p>
            <a:pPr>
              <a:defRPr sz="2000"/>
            </a:pPr>
            <a:r>
              <a:t>* Lack of capacity building.</a:t>
            </a:r>
          </a:p>
          <a:p>
            <a:pPr>
              <a:defRPr sz="2000"/>
            </a:pPr>
            <a:r>
              <a:t>* Weak enforcement and monitoring.</a:t>
            </a:r>
          </a:p>
          <a:p>
            <a:pPr>
              <a:defRPr sz="2000"/>
            </a:pPr>
          </a:p>
          <a:p>
            <a:pPr>
              <a:defRPr sz="2000"/>
            </a:pPr>
            <a:r>
              <a:t>Greater commitment and vigilance are needed in the States. Field administration requires capacity building and supervision.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Strengthening the System</a:t>
            </a:r>
          </a:p>
        </p:txBody>
      </p:sp>
      <p:sp>
        <p:nvSpPr>
          <p:cNvPr id="3" name="Content Placeholder 2"/>
          <p:cNvSpPr>
            <a:spLocks noGrp="1"/>
          </p:cNvSpPr>
          <p:nvPr>
            <p:ph idx="1"/>
          </p:nvPr>
        </p:nvSpPr>
        <p:spPr/>
        <p:txBody>
          <a:bodyPr/>
          <a:lstStyle/>
          <a:p>
            <a:pPr>
              <a:defRPr sz="2000"/>
            </a:pPr>
            <a:r>
              <a:t>Urgent need to strengthen the Project Tiger Directorate at the Central Government level to oversee tiger conservation.</a:t>
            </a:r>
          </a:p>
          <a:p>
            <a:pPr>
              <a:defRPr sz="2000"/>
            </a:pPr>
          </a:p>
          <a:p>
            <a:pPr>
              <a:defRPr sz="2000"/>
            </a:pPr>
            <a:r>
              <a:t>Involvement of Parliament is required for review and guidance.</a:t>
            </a:r>
          </a:p>
          <a:p>
            <a:pPr>
              <a:defRPr sz="2000"/>
            </a:pPr>
          </a:p>
          <a:p>
            <a:pPr>
              <a:defRPr sz="2000"/>
            </a:pPr>
            <a:r>
              <a:t>Likewise, involvement of Chief Ministers and strengthening field administration, supervision, and participatory base (including local people) are crucial.</a:t>
            </a:r>
          </a:p>
          <a:p>
            <a:pPr>
              <a:defRPr sz="2000"/>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Strengthening the System (cont.)</a:t>
            </a:r>
          </a:p>
        </p:txBody>
      </p:sp>
      <p:sp>
        <p:nvSpPr>
          <p:cNvPr id="3" name="Content Placeholder 2"/>
          <p:cNvSpPr>
            <a:spLocks noGrp="1"/>
          </p:cNvSpPr>
          <p:nvPr>
            <p:ph idx="1"/>
          </p:nvPr>
        </p:nvSpPr>
        <p:spPr/>
        <p:txBody>
          <a:bodyPr/>
          <a:lstStyle/>
          <a:p>
            <a:pPr>
              <a:defRPr sz="2000"/>
            </a:pPr>
            <a:r>
              <a:t>Project Tiger was converted into a statutory authority (NTCA) through the Wild Life (Protection) Amendment Act, 2006. This addresses ecological and administrative concerns, providing a statutory basis for protection of tiger reserves and strengthened institutional mechanisms.</a:t>
            </a:r>
          </a:p>
          <a:p>
            <a:pPr>
              <a:defRPr sz="2000"/>
            </a:pPr>
          </a:p>
          <a:p>
            <a:pPr>
              <a:defRPr sz="2000"/>
            </a:pPr>
            <a:r>
              <a:t>The NTCA ensures enforcement of guidelines, monitors compliance, and places motivated, trained officers as Field Directors. It also facilitates capacity building and staff development.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NTCA Implementation</a:t>
            </a:r>
          </a:p>
        </p:txBody>
      </p:sp>
      <p:sp>
        <p:nvSpPr>
          <p:cNvPr id="3" name="Content Placeholder 2"/>
          <p:cNvSpPr>
            <a:spLocks noGrp="1"/>
          </p:cNvSpPr>
          <p:nvPr>
            <p:ph idx="1"/>
          </p:nvPr>
        </p:nvSpPr>
        <p:spPr/>
        <p:txBody>
          <a:bodyPr/>
          <a:lstStyle/>
          <a:p>
            <a:pPr>
              <a:defRPr sz="2000"/>
            </a:pPr>
            <a:r>
              <a:t>The Wild Life (Protection) Amendment Act, 2006 came into effect on September 4, 2006, and the NTCA was constituted on the same date.</a:t>
            </a:r>
          </a:p>
          <a:p>
            <a:pPr>
              <a:defRPr sz="2000"/>
            </a:pPr>
          </a:p>
          <a:p>
            <a:pPr>
              <a:defRPr sz="2000"/>
            </a:pPr>
            <a:r>
              <a:t>Despite three decades of Project Tiger, tigers remain endangered due to:</a:t>
            </a:r>
          </a:p>
          <a:p>
            <a:pPr>
              <a:defRPr sz="2000"/>
            </a:pPr>
          </a:p>
          <a:p>
            <a:pPr>
              <a:defRPr sz="2000"/>
            </a:pPr>
            <a:r>
              <a:t>* Habitat loss from agriculture and development.</a:t>
            </a:r>
          </a:p>
          <a:p>
            <a:pPr>
              <a:defRPr sz="2000"/>
            </a:pPr>
            <a:r>
              <a:t>* Revenge killings due to conflicts.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NTCA Implementation (cont.)</a:t>
            </a:r>
          </a:p>
        </p:txBody>
      </p:sp>
      <p:sp>
        <p:nvSpPr>
          <p:cNvPr id="3" name="Content Placeholder 2"/>
          <p:cNvSpPr>
            <a:spLocks noGrp="1"/>
          </p:cNvSpPr>
          <p:nvPr>
            <p:ph idx="1"/>
          </p:nvPr>
        </p:nvSpPr>
        <p:spPr/>
        <p:txBody>
          <a:bodyPr/>
          <a:lstStyle/>
          <a:p>
            <a:pPr>
              <a:defRPr sz="2000"/>
            </a:pPr>
            <a:r>
              <a:t>* Demand for body parts in the illegal market.</a:t>
            </a:r>
          </a:p>
          <a:p>
            <a:pPr>
              <a:defRPr sz="2000"/>
            </a:pPr>
          </a:p>
          <a:p>
            <a:pPr>
              <a:defRPr sz="2000"/>
            </a:pPr>
            <a:r>
              <a:t>Continuance of a focused, species-specific, multifaceted, ecosystem project like ‘Project Tiger’ is crucial to address these threats.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Key Imperatives in Tiger Conservation</a:t>
            </a:r>
          </a:p>
        </p:txBody>
      </p:sp>
      <p:sp>
        <p:nvSpPr>
          <p:cNvPr id="3" name="Content Placeholder 2"/>
          <p:cNvSpPr>
            <a:spLocks noGrp="1"/>
          </p:cNvSpPr>
          <p:nvPr>
            <p:ph idx="1"/>
          </p:nvPr>
        </p:nvSpPr>
        <p:spPr/>
        <p:txBody>
          <a:bodyPr/>
          <a:lstStyle/>
          <a:p>
            <a:pPr>
              <a:defRPr sz="2000"/>
            </a:pPr>
            <a:r>
              <a:t>Three key imperatives necessitate a ‘project mode’:</a:t>
            </a:r>
          </a:p>
          <a:p>
            <a:pPr>
              <a:defRPr sz="2000"/>
            </a:pPr>
          </a:p>
          <a:p>
            <a:pPr>
              <a:defRPr sz="2000"/>
            </a:pPr>
            <a:r>
              <a:t>* A focused approach to prioritize actions for tiger conservation (within and outside reserves).</a:t>
            </a:r>
          </a:p>
          <a:p>
            <a:pPr>
              <a:defRPr sz="2000"/>
            </a:pPr>
            <a:r>
              <a:t>* Eliciting support from local communities.</a:t>
            </a:r>
          </a:p>
          <a:p>
            <a:pPr>
              <a:defRPr sz="2000"/>
            </a:pPr>
            <a:r>
              <a:t>* Ensuring necessary infrastructure for protection and management.</a:t>
            </a:r>
          </a:p>
          <a:p>
            <a:pPr>
              <a:defRPr sz="2000"/>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Key Imperatives in Tiger Conservation (cont.)</a:t>
            </a:r>
          </a:p>
        </p:txBody>
      </p:sp>
      <p:sp>
        <p:nvSpPr>
          <p:cNvPr id="3" name="Content Placeholder 2"/>
          <p:cNvSpPr>
            <a:spLocks noGrp="1"/>
          </p:cNvSpPr>
          <p:nvPr>
            <p:ph idx="1"/>
          </p:nvPr>
        </p:nvSpPr>
        <p:spPr/>
        <p:txBody>
          <a:bodyPr/>
          <a:lstStyle/>
          <a:p>
            <a:pPr>
              <a:defRPr sz="2000"/>
            </a:pPr>
            <a:r>
              <a:t>Tiger conservation has ecological national significance transcending State boundaries.</a:t>
            </a:r>
          </a:p>
          <a:p>
            <a:pPr>
              <a:defRPr sz="2000"/>
            </a:pPr>
          </a:p>
          <a:p>
            <a:pPr>
              <a:defRPr sz="2000"/>
            </a:pPr>
            <a:r>
              <a:t>The Government of India provides funding and technical guidance through the Centrally Sponsored Scheme of Project Tiger.</a:t>
            </a:r>
          </a:p>
          <a:p>
            <a:pPr>
              <a:defRPr sz="2000"/>
            </a:pPr>
          </a:p>
          <a:p>
            <a:pPr>
              <a:defRPr sz="2000"/>
            </a:pPr>
            <a:r>
              <a:t>Tigers are present in the forests of seventeen states, including protected areas/tiger reserves.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Key Imperatives in Tiger Conservation (cont.)</a:t>
            </a:r>
          </a:p>
        </p:txBody>
      </p:sp>
      <p:sp>
        <p:nvSpPr>
          <p:cNvPr id="3" name="Content Placeholder 2"/>
          <p:cNvSpPr>
            <a:spLocks noGrp="1"/>
          </p:cNvSpPr>
          <p:nvPr>
            <p:ph idx="1"/>
          </p:nvPr>
        </p:nvSpPr>
        <p:spPr/>
        <p:txBody>
          <a:bodyPr/>
          <a:lstStyle/>
          <a:p>
            <a:pPr>
              <a:defRPr sz="2000"/>
            </a:pPr>
          </a:p>
          <a:p>
            <a:pPr>
              <a:defRPr sz="2000"/>
            </a:pPr>
            <a:r>
              <a:t>The distribution and density of tigers vary due to ecological and human reasons: forest cover, terrain, prey availability, undisturbed habitat, and managerial efforts.</a:t>
            </a:r>
          </a:p>
          <a:p>
            <a:pPr>
              <a:defRPr sz="2000"/>
            </a:pPr>
          </a:p>
          <a:p>
            <a:pPr>
              <a:defRPr sz="2000"/>
            </a:pPr>
            <a:r>
              <a:t>Tigers are indicators of ecosystem well-being. A healthy population indicates robust ecological components. Investments in this project are justified.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FF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Ongoing Activities</a:t>
            </a:r>
          </a:p>
        </p:txBody>
      </p:sp>
      <p:sp>
        <p:nvSpPr>
          <p:cNvPr id="3" name="Text Placeholder 2"/>
          <p:cNvSpPr>
            <a:spLocks noGrp="1"/>
          </p:cNvSpPr>
          <p:nvPr>
            <p:ph type="body" idx="1"/>
          </p:nvPr>
        </p:nvSpPr>
        <p:spPr/>
        <p:txBody>
          <a:bodyPr/>
          <a:lstStyle/>
          <a:p>
            <a:pPr>
              <a:defRPr sz="2200"/>
            </a:pPr>
            <a:r>
              <a:t>Activities supported under the revised Centrally</a:t>
            </a:r>
          </a:p>
          <a:p>
            <a:pPr>
              <a:defRPr sz="2200"/>
            </a:pPr>
            <a:r>
              <a:t>Sponsored Scheme of Project Tiger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Anti-Poaching Activities</a:t>
            </a:r>
          </a:p>
        </p:txBody>
      </p:sp>
      <p:sp>
        <p:nvSpPr>
          <p:cNvPr id="3" name="Content Placeholder 2"/>
          <p:cNvSpPr>
            <a:spLocks noGrp="1"/>
          </p:cNvSpPr>
          <p:nvPr>
            <p:ph idx="1"/>
          </p:nvPr>
        </p:nvSpPr>
        <p:spPr/>
        <p:txBody>
          <a:bodyPr/>
          <a:lstStyle/>
          <a:p>
            <a:pPr>
              <a:defRPr sz="2000"/>
            </a:pPr>
            <a:r>
              <a:t>Anti-poaching operations in Tiger Reserves are site-specific. The following activities would form part of the protection strategy:</a:t>
            </a:r>
          </a:p>
          <a:p>
            <a:pPr>
              <a:defRPr sz="2000"/>
            </a:pPr>
          </a:p>
          <a:p>
            <a:pPr>
              <a:defRPr sz="2000"/>
            </a:pPr>
            <a:r>
              <a:t>* Deployment of anti-poaching squads.</a:t>
            </a:r>
          </a:p>
          <a:p>
            <a:pPr>
              <a:defRPr sz="2000"/>
            </a:pPr>
            <a:r>
              <a:t>* Establishing and maintaining patrolling camps/chowkis.</a:t>
            </a:r>
          </a:p>
          <a:p>
            <a:pPr>
              <a:defRPr sz="2000"/>
            </a:pPr>
            <a:r>
              <a:t>* Organizing vehicular patrolling (Tiger Protection Force).</a:t>
            </a:r>
          </a:p>
          <a:p>
            <a:pPr>
              <a:defRPr sz="2000"/>
            </a:pPr>
            <a:r>
              <a:t>* Establishing and maintaining wireless network.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Anti-Poaching Activities (cont.)</a:t>
            </a:r>
          </a:p>
        </p:txBody>
      </p:sp>
      <p:sp>
        <p:nvSpPr>
          <p:cNvPr id="3" name="Content Placeholder 2"/>
          <p:cNvSpPr>
            <a:spLocks noGrp="1"/>
          </p:cNvSpPr>
          <p:nvPr>
            <p:ph idx="1"/>
          </p:nvPr>
        </p:nvSpPr>
        <p:spPr/>
        <p:txBody>
          <a:bodyPr/>
          <a:lstStyle/>
          <a:p>
            <a:pPr>
              <a:defRPr sz="2000"/>
            </a:pPr>
            <a:r>
              <a:t>* Organizing surprise raids jointly with local police.</a:t>
            </a:r>
          </a:p>
          <a:p>
            <a:pPr>
              <a:defRPr sz="2000"/>
            </a:pPr>
            <a:r>
              <a:t>* Ensuring special site-specific protection measures during monsoon (‘Operation Monsoon’).</a:t>
            </a:r>
          </a:p>
          <a:p>
            <a:pPr>
              <a:defRPr sz="2000"/>
            </a:pPr>
            <a:r>
              <a:t>* Deployment of ex-army personnel / home guards.</a:t>
            </a:r>
          </a:p>
          <a:p>
            <a:pPr>
              <a:defRPr sz="2000"/>
            </a:pPr>
            <a:r>
              <a:t>* Deployment of local workforce for patrolling and surveillance.</a:t>
            </a:r>
          </a:p>
          <a:p>
            <a:pPr>
              <a:defRPr sz="2000"/>
            </a:pPr>
            <a:r>
              <a:t>* Procurement of arms and ammunition.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Anti-Poaching Activities (cont.)</a:t>
            </a:r>
          </a:p>
        </p:txBody>
      </p:sp>
      <p:sp>
        <p:nvSpPr>
          <p:cNvPr id="3" name="Content Placeholder 2"/>
          <p:cNvSpPr>
            <a:spLocks noGrp="1"/>
          </p:cNvSpPr>
          <p:nvPr>
            <p:ph idx="1"/>
          </p:nvPr>
        </p:nvSpPr>
        <p:spPr/>
        <p:txBody>
          <a:bodyPr/>
          <a:lstStyle/>
          <a:p>
            <a:pPr>
              <a:defRPr sz="2000"/>
            </a:pPr>
            <a:r>
              <a:t>* Procurement/maintenance of elephant squads.</a:t>
            </a:r>
          </a:p>
          <a:p>
            <a:pPr>
              <a:defRPr sz="2000"/>
            </a:pPr>
            <a:r>
              <a:t>* Rewards to informers.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Project Tiger: Key Activities</a:t>
            </a:r>
          </a:p>
        </p:txBody>
      </p:sp>
      <p:sp>
        <p:nvSpPr>
          <p:cNvPr id="3" name="Subtitle 2"/>
          <p:cNvSpPr>
            <a:spLocks noGrp="1"/>
          </p:cNvSpPr>
          <p:nvPr>
            <p:ph type="subTitle" idx="1"/>
          </p:nvPr>
        </p:nvSpPr>
        <p:spPr/>
        <p:txBody>
          <a:bodyPr/>
          <a:lstStyle/>
          <a:p>
            <a:pPr>
              <a:defRPr sz="2400" i="1"/>
            </a:pPr>
            <a:r>
              <a:t>Enhancing Tiger Conservation Efforts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Strengthening Legal Support &amp; Procurement</a:t>
            </a:r>
          </a:p>
        </p:txBody>
      </p:sp>
      <p:sp>
        <p:nvSpPr>
          <p:cNvPr id="3" name="Content Placeholder 2"/>
          <p:cNvSpPr>
            <a:spLocks noGrp="1"/>
          </p:cNvSpPr>
          <p:nvPr>
            <p:ph idx="1"/>
          </p:nvPr>
        </p:nvSpPr>
        <p:spPr/>
        <p:txBody>
          <a:bodyPr/>
          <a:lstStyle/>
          <a:p>
            <a:pPr>
              <a:defRPr sz="2000"/>
            </a:pPr>
            <a:r>
              <a:t>Legal support for defending court cases.</a:t>
            </a:r>
          </a:p>
          <a:p>
            <a:pPr>
              <a:defRPr sz="2000"/>
            </a:pPr>
            <a:r>
              <a:t>Procurement of vehicles, boats.</a:t>
            </a:r>
          </a:p>
          <a:p>
            <a:pPr>
              <a:defRPr sz="2000"/>
            </a:pPr>
            <a:r>
              <a:t>Procurement field gear, night vision device.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Infrastructure Reinforcement in Tiger Reserves</a:t>
            </a:r>
          </a:p>
        </p:txBody>
      </p:sp>
      <p:sp>
        <p:nvSpPr>
          <p:cNvPr id="3" name="Content Placeholder 2"/>
          <p:cNvSpPr>
            <a:spLocks noGrp="1"/>
          </p:cNvSpPr>
          <p:nvPr>
            <p:ph idx="1"/>
          </p:nvPr>
        </p:nvSpPr>
        <p:spPr/>
        <p:txBody>
          <a:bodyPr/>
          <a:lstStyle/>
          <a:p>
            <a:pPr>
              <a:defRPr sz="2000"/>
            </a:pPr>
            <a:r>
              <a:t>Civil Works (staff quarters, family hostels, office improvement, patrolling camp, house keeping buildings, museum, culverts).</a:t>
            </a:r>
          </a:p>
          <a:p>
            <a:pPr>
              <a:defRPr sz="2000"/>
            </a:pPr>
            <a:r>
              <a:t>Maintenance / creation / upgradation of road network.</a:t>
            </a:r>
          </a:p>
          <a:p>
            <a:pPr>
              <a:defRPr sz="2000"/>
            </a:pPr>
            <a:r>
              <a:t>Maintenance / creation of wireless tower.</a:t>
            </a:r>
          </a:p>
          <a:p>
            <a:pPr>
              <a:defRPr sz="2000"/>
            </a:pPr>
            <a:r>
              <a:t>Maintenance / creation of fire watch tower.</a:t>
            </a:r>
          </a:p>
          <a:p>
            <a:pPr>
              <a:defRPr sz="2000"/>
            </a:pPr>
            <a:r>
              <a:t>Maintenance / creation of bridges, dams, anicuts.</a:t>
            </a:r>
          </a:p>
          <a:p>
            <a:pPr>
              <a:defRPr sz="2000"/>
            </a:pPr>
            <a:r>
              <a:t>Maintenance / creation of firelines / firebreaks.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Infrastructure Reinforcement in Tiger Reserves (cont.)</a:t>
            </a:r>
          </a:p>
        </p:txBody>
      </p:sp>
      <p:sp>
        <p:nvSpPr>
          <p:cNvPr id="3" name="Content Placeholder 2"/>
          <p:cNvSpPr>
            <a:spLocks noGrp="1"/>
          </p:cNvSpPr>
          <p:nvPr>
            <p:ph idx="1"/>
          </p:nvPr>
        </p:nvSpPr>
        <p:spPr/>
        <p:txBody>
          <a:bodyPr/>
          <a:lstStyle/>
          <a:p>
            <a:pPr>
              <a:defRPr sz="2000"/>
            </a:pPr>
            <a:r>
              <a:t>Maintenance / creation of earthen ponds.</a:t>
            </a:r>
          </a:p>
          <a:p>
            <a:pPr>
              <a:defRPr sz="2000"/>
            </a:pPr>
            <a:r>
              <a:t>Procurement / maintenance of vehicles (Gypsy, Jeep, Truck, Tractor).</a:t>
            </a:r>
          </a:p>
          <a:p>
            <a:pPr>
              <a:defRPr sz="2000"/>
            </a:pPr>
            <a:r>
              <a:t>Habitat improvement works.</a:t>
            </a:r>
          </a:p>
          <a:p>
            <a:pPr>
              <a:defRPr sz="2000"/>
            </a:pPr>
            <a:r>
              <a:t>Procurement of hardware, software / GIS.</a:t>
            </a:r>
          </a:p>
          <a:p>
            <a:pPr>
              <a:defRPr sz="2000"/>
            </a:pPr>
            <a:r>
              <a:t>Procurement of compass, range finder, GPS, camera traps.</a:t>
            </a:r>
          </a:p>
          <a:p>
            <a:pPr>
              <a:defRPr sz="2000"/>
            </a:pPr>
            <a:r>
              <a:t>Procurement of satellite imageries for management planning.</a:t>
            </a:r>
          </a:p>
          <a:p>
            <a:pPr>
              <a:defRPr sz="2000"/>
            </a:pPr>
            <a:r>
              <a:t>Map digitization facility for management planning.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Habitat Improvement &amp; Water Development</a:t>
            </a:r>
          </a:p>
        </p:txBody>
      </p:sp>
      <p:sp>
        <p:nvSpPr>
          <p:cNvPr id="3" name="Content Placeholder 2"/>
          <p:cNvSpPr>
            <a:spLocks noGrp="1"/>
          </p:cNvSpPr>
          <p:nvPr>
            <p:ph idx="1"/>
          </p:nvPr>
        </p:nvSpPr>
        <p:spPr/>
        <p:txBody>
          <a:bodyPr/>
          <a:lstStyle/>
          <a:p>
            <a:pPr>
              <a:defRPr sz="2000"/>
            </a:pPr>
            <a:r>
              <a:t>Weed eradication, removal of gregarious plant growth from grasslands, grass improvement, water retention structures and the like.</a:t>
            </a:r>
          </a:p>
          <a:p>
            <a:pPr>
              <a:defRPr sz="2000"/>
            </a:pPr>
            <a:r>
              <a:t>These initiatives would increase the forage and browse values of the habitat for wild animals.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Man-Animal Conflict</a:t>
            </a:r>
          </a:p>
        </p:txBody>
      </p:sp>
      <p:sp>
        <p:nvSpPr>
          <p:cNvPr id="3" name="Content Placeholder 2"/>
          <p:cNvSpPr>
            <a:spLocks noGrp="1"/>
          </p:cNvSpPr>
          <p:nvPr>
            <p:ph idx="1"/>
          </p:nvPr>
        </p:nvSpPr>
        <p:spPr/>
        <p:txBody>
          <a:bodyPr/>
          <a:lstStyle/>
          <a:p>
            <a:pPr>
              <a:defRPr sz="2000"/>
            </a:pPr>
            <a:r>
              <a:t>Payment of compensation for cattle lifting, death of human beings and crop depredation* due to wild animals.</a:t>
            </a:r>
          </a:p>
          <a:p>
            <a:pPr>
              <a:defRPr sz="2000"/>
            </a:pPr>
            <a:r>
              <a:t>Creation of crop protection structures.</a:t>
            </a:r>
          </a:p>
          <a:p>
            <a:pPr>
              <a:defRPr sz="2000"/>
            </a:pPr>
            <a:r>
              <a:t>Procurement / deployment of traps, cages to catch problematic animals.</a:t>
            </a:r>
          </a:p>
          <a:p>
            <a:pPr>
              <a:defRPr sz="2000"/>
            </a:pPr>
            <a:r>
              <a:t>Procurement of tranquilizing equipments, rescue vehicles and drugs.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Co-existence Agenda in Buffer / Fringe Areas</a:t>
            </a:r>
          </a:p>
        </p:txBody>
      </p:sp>
      <p:sp>
        <p:nvSpPr>
          <p:cNvPr id="3" name="Content Placeholder 2"/>
          <p:cNvSpPr>
            <a:spLocks noGrp="1"/>
          </p:cNvSpPr>
          <p:nvPr>
            <p:ph idx="1"/>
          </p:nvPr>
        </p:nvSpPr>
        <p:spPr/>
        <p:txBody>
          <a:bodyPr/>
          <a:lstStyle/>
          <a:p>
            <a:pPr>
              <a:defRPr sz="2000"/>
            </a:pPr>
            <a:r>
              <a:t>Fringe areas have corridor value; ecological sustainability is important.</a:t>
            </a:r>
          </a:p>
          <a:p>
            <a:pPr>
              <a:defRPr sz="2000"/>
            </a:pPr>
            <a:r>
              <a:t>Delineate buffer zones to:</a:t>
            </a:r>
          </a:p>
          <a:p>
            <a:pPr>
              <a:defRPr sz="2000"/>
            </a:pPr>
            <a:r>
              <a:t>Providing ecologically viable livelihood options to local stakeholders for reducing their dependency on forests.</a:t>
            </a:r>
          </a:p>
          <a:p>
            <a:pPr>
              <a:defRPr sz="2000"/>
            </a:pPr>
            <a:r>
              <a:t>Conserving the forest area through restorative inputs involving local people for providing habitat supplement to wild animals moving out of core areas.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Co-existence Agenda in Buffer / Fringe Areas (cont.)</a:t>
            </a:r>
          </a:p>
        </p:txBody>
      </p:sp>
      <p:sp>
        <p:nvSpPr>
          <p:cNvPr id="3" name="Content Placeholder 2"/>
          <p:cNvSpPr>
            <a:spLocks noGrp="1"/>
          </p:cNvSpPr>
          <p:nvPr>
            <p:ph idx="1"/>
          </p:nvPr>
        </p:nvSpPr>
        <p:spPr/>
        <p:txBody>
          <a:bodyPr/>
          <a:lstStyle/>
          <a:p>
            <a:pPr>
              <a:defRPr sz="2000"/>
            </a:pPr>
            <a:r>
              <a:t>A comparative assessment of the forest cover status of outer fringe areas of tiger reserves upto a radial distance of 10 kms. has been done in collaboration with the Forest Survey of India.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Rehabilitation for Traditional Hunting Tribes</a:t>
            </a:r>
          </a:p>
        </p:txBody>
      </p:sp>
      <p:sp>
        <p:nvSpPr>
          <p:cNvPr id="3" name="Content Placeholder 2"/>
          <p:cNvSpPr>
            <a:spLocks noGrp="1"/>
          </p:cNvSpPr>
          <p:nvPr>
            <p:ph idx="1"/>
          </p:nvPr>
        </p:nvSpPr>
        <p:spPr/>
        <p:txBody>
          <a:bodyPr/>
          <a:lstStyle/>
          <a:p>
            <a:pPr>
              <a:defRPr sz="2000"/>
            </a:pPr>
            <a:r>
              <a:t>Need to launch a rehabilitation and development programme for denotified tribes living around tiger reserves.</a:t>
            </a:r>
          </a:p>
          <a:p>
            <a:pPr>
              <a:defRPr sz="2000"/>
            </a:pPr>
            <a:r>
              <a:t>Around 5,000 families are required to be taken up under a welfare programme.</a:t>
            </a:r>
          </a:p>
          <a:p>
            <a:pPr>
              <a:defRPr sz="2000"/>
            </a:pPr>
            <a:r>
              <a:t>Rehabilitation / welfare package should be evolved in a site specific, consultative manner with livelihood options, to include : wages for such people towards their deployment in foot patrolling for protecting wildlife, providing agricultural land with irrigation, basic health care, housing and related community welfare inputs and basic education facilities.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Research and Field Equipments</a:t>
            </a:r>
          </a:p>
        </p:txBody>
      </p:sp>
      <p:sp>
        <p:nvSpPr>
          <p:cNvPr id="3" name="Content Placeholder 2"/>
          <p:cNvSpPr>
            <a:spLocks noGrp="1"/>
          </p:cNvSpPr>
          <p:nvPr>
            <p:ph idx="1"/>
          </p:nvPr>
        </p:nvSpPr>
        <p:spPr/>
        <p:txBody>
          <a:bodyPr/>
          <a:lstStyle/>
          <a:p>
            <a:pPr>
              <a:defRPr sz="2000"/>
            </a:pPr>
            <a:r>
              <a:t>All India tiger estimation has resulted in a permanent monitoring protocol.</a:t>
            </a:r>
          </a:p>
          <a:p>
            <a:pPr>
              <a:defRPr sz="2000"/>
            </a:pPr>
            <a:r>
              <a:t>Assistance would be provided for fostering field oriented research and to equip the staff with facilities like GPS, camera traps, night vision, range finder and related accessories including hardware and software.</a:t>
            </a:r>
          </a:p>
          <a:p>
            <a:pPr>
              <a:defRPr sz="2000"/>
            </a:pPr>
            <a:r>
              <a:t>The tiger reserves are required to carry out the day to day monitoring of wild animals using the refined process in the GIS domain, which would enable “forecasting” vis-à-vis wildlife protection.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Staff Development &amp; Capacity Building</a:t>
            </a:r>
          </a:p>
        </p:txBody>
      </p:sp>
      <p:sp>
        <p:nvSpPr>
          <p:cNvPr id="3" name="Content Placeholder 2"/>
          <p:cNvSpPr>
            <a:spLocks noGrp="1"/>
          </p:cNvSpPr>
          <p:nvPr>
            <p:ph idx="1"/>
          </p:nvPr>
        </p:nvSpPr>
        <p:spPr/>
        <p:txBody>
          <a:bodyPr/>
          <a:lstStyle/>
          <a:p>
            <a:pPr>
              <a:defRPr sz="2000"/>
            </a:pPr>
            <a:r>
              <a:t>Capacity building / training.</a:t>
            </a:r>
          </a:p>
          <a:p>
            <a:pPr>
              <a:defRPr sz="2000"/>
            </a:pPr>
            <a:r>
              <a:t>Providing project allowance and special incentives.</a:t>
            </a:r>
          </a:p>
          <a:p>
            <a:pPr>
              <a:defRPr sz="2000"/>
            </a:pPr>
            <a:r>
              <a:t>Specialized training in the use of GIS, antipoaching operations.</a:t>
            </a:r>
          </a:p>
          <a:p>
            <a:pPr>
              <a:defRPr sz="2000"/>
            </a:pPr>
            <a:r>
              <a:t>Specialized training in jurisprudence and wildlife forensics.</a:t>
            </a:r>
          </a:p>
          <a:p>
            <a:pPr>
              <a:defRPr sz="2000"/>
            </a:pPr>
            <a:r>
              <a:t>Study tours for appraisal of good practices in other reserves.</a:t>
            </a:r>
          </a:p>
          <a:p>
            <a:pPr>
              <a:defRPr sz="2000"/>
            </a:pPr>
            <a:r>
              <a:t>Dissemination workshops.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Staff Development &amp; Capacity Building (cont.)</a:t>
            </a:r>
          </a:p>
        </p:txBody>
      </p:sp>
      <p:sp>
        <p:nvSpPr>
          <p:cNvPr id="3" name="Content Placeholder 2"/>
          <p:cNvSpPr>
            <a:spLocks noGrp="1"/>
          </p:cNvSpPr>
          <p:nvPr>
            <p:ph idx="1"/>
          </p:nvPr>
        </p:nvSpPr>
        <p:spPr/>
        <p:txBody>
          <a:bodyPr/>
          <a:lstStyle/>
          <a:p>
            <a:pPr>
              <a:defRPr sz="2000"/>
            </a:pPr>
            <a:r>
              <a:t>Specialized training in park interpretation.</a:t>
            </a:r>
          </a:p>
          <a:p>
            <a:pPr>
              <a:defRPr sz="2000"/>
            </a:pPr>
            <a:r>
              <a:t>Specialized training in management planning.</a:t>
            </a:r>
          </a:p>
          <a:p>
            <a:pPr>
              <a:defRPr sz="2000"/>
            </a:pPr>
            <a:r>
              <a:t>The above inputs are extremely important for enhancing the skill of field staff.</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Inviolate Spaces &amp; Relocation of Villagers</a:t>
            </a:r>
          </a:p>
        </p:txBody>
      </p:sp>
      <p:sp>
        <p:nvSpPr>
          <p:cNvPr id="3" name="Content Placeholder 2"/>
          <p:cNvSpPr>
            <a:spLocks noGrp="1"/>
          </p:cNvSpPr>
          <p:nvPr>
            <p:ph idx="1"/>
          </p:nvPr>
        </p:nvSpPr>
        <p:spPr/>
        <p:txBody>
          <a:bodyPr/>
          <a:lstStyle/>
          <a:p>
            <a:pPr>
              <a:defRPr sz="2000"/>
            </a:pPr>
            <a:r>
              <a:t>Rights of people recognized in forest areas within core/critical tiger/wildlife habitats may be modified and resettled for providing inviolate spaces to tiger/wild animals.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Village Relocation and Tiger Conservation</a:t>
            </a:r>
          </a:p>
        </p:txBody>
      </p:sp>
      <p:sp>
        <p:nvSpPr>
          <p:cNvPr id="3" name="Subtitle 2"/>
          <p:cNvSpPr>
            <a:spLocks noGrp="1"/>
          </p:cNvSpPr>
          <p:nvPr>
            <p:ph type="subTitle" idx="1"/>
          </p:nvPr>
        </p:nvSpPr>
        <p:spPr/>
        <p:txBody>
          <a:bodyPr/>
          <a:lstStyle/>
          <a:p>
            <a:pPr>
              <a:defRPr sz="2400" i="1"/>
            </a:pPr>
            <a:r>
              <a:t>Strategies for Balancing Human Needs and Wildlife Protection in Tiger Reserves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Statutory Requirements for Relocation</a:t>
            </a:r>
          </a:p>
        </p:txBody>
      </p:sp>
      <p:sp>
        <p:nvSpPr>
          <p:cNvPr id="3" name="Content Placeholder 2"/>
          <p:cNvSpPr>
            <a:spLocks noGrp="1"/>
          </p:cNvSpPr>
          <p:nvPr>
            <p:ph idx="1"/>
          </p:nvPr>
        </p:nvSpPr>
        <p:spPr/>
        <p:txBody>
          <a:bodyPr/>
          <a:lstStyle/>
          <a:p>
            <a:pPr>
              <a:defRPr sz="2000"/>
            </a:pPr>
            <a:r>
              <a:t>Relocation requires compensation, rights settlement.</a:t>
            </a:r>
          </a:p>
          <a:p>
            <a:pPr>
              <a:defRPr sz="2000"/>
            </a:pPr>
            <a:r>
              <a:t>Wild Life (Protection) Act, 1972, Section 24 allows acquisition of rights.</a:t>
            </a:r>
          </a:p>
          <a:p>
            <a:pPr>
              <a:defRPr sz="2000"/>
            </a:pPr>
            <a:r>
              <a:t>Collector authorized to acquire land/rights.</a:t>
            </a:r>
          </a:p>
          <a:p>
            <a:pPr>
              <a:defRPr sz="2000"/>
            </a:pPr>
            <a:r>
              <a:t>Compensation for property forms part of settling rights, a statutory need.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Ecological Imperative for Inviolate Core Areas</a:t>
            </a:r>
          </a:p>
        </p:txBody>
      </p:sp>
      <p:sp>
        <p:nvSpPr>
          <p:cNvPr id="3" name="Content Placeholder 2"/>
          <p:cNvSpPr>
            <a:spLocks noGrp="1"/>
          </p:cNvSpPr>
          <p:nvPr>
            <p:ph idx="1"/>
          </p:nvPr>
        </p:nvSpPr>
        <p:spPr/>
        <p:txBody>
          <a:bodyPr/>
          <a:lstStyle/>
          <a:p>
            <a:pPr>
              <a:defRPr sz="2000"/>
            </a:pPr>
            <a:r>
              <a:t>Tiger ecology research shows need for inviolate space.</a:t>
            </a:r>
          </a:p>
          <a:p>
            <a:pPr>
              <a:defRPr sz="2000"/>
            </a:pPr>
            <a:r>
              <a:t>Minimum tigress population in breeding age to maintain 80-100 tigers.</a:t>
            </a:r>
          </a:p>
          <a:p>
            <a:pPr>
              <a:defRPr sz="2000"/>
            </a:pPr>
            <a:r>
              <a:t>Core area of 800-1000 sq km required.</a:t>
            </a:r>
          </a:p>
          <a:p>
            <a:pPr>
              <a:defRPr sz="2000"/>
            </a:pPr>
            <a:r>
              <a:t>Tiger as umbrella species ensures viable populations for others.</a:t>
            </a:r>
          </a:p>
          <a:p>
            <a:pPr>
              <a:defRPr sz="2000"/>
            </a:pPr>
            <a:r>
              <a:t>Ecological imperative to keep core areas inviolate.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FF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Proposed Relocation Package</a:t>
            </a:r>
          </a:p>
        </p:txBody>
      </p:sp>
      <p:sp>
        <p:nvSpPr>
          <p:cNvPr id="3" name="Text Placeholder 2"/>
          <p:cNvSpPr>
            <a:spLocks noGrp="1"/>
          </p:cNvSpPr>
          <p:nvPr>
            <p:ph type="body" idx="1"/>
          </p:nvPr>
        </p:nvSpPr>
        <p:spPr/>
        <p:txBody>
          <a:bodyPr/>
          <a:lstStyle/>
          <a:p>
            <a:pPr>
              <a:defRPr sz="2200"/>
            </a:pPr>
            <a:r>
              <a:t>Based on agency recommendations, covering National Rehabilitation and Resettlement Policy, 2007. Considering difficulties involved in relocating forest dwellers.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Relocation Package Options</a:t>
            </a:r>
          </a:p>
        </p:txBody>
      </p:sp>
      <p:sp>
        <p:nvSpPr>
          <p:cNvPr id="3" name="Content Placeholder 2"/>
          <p:cNvSpPr>
            <a:spLocks noGrp="1"/>
          </p:cNvSpPr>
          <p:nvPr>
            <p:ph idx="1"/>
          </p:nvPr>
        </p:nvSpPr>
        <p:spPr/>
        <p:txBody>
          <a:bodyPr/>
          <a:lstStyle/>
          <a:p>
            <a:pPr>
              <a:defRPr sz="2000"/>
            </a:pPr>
            <a:r>
              <a:t>Two options proposed:</a:t>
            </a:r>
          </a:p>
          <a:p>
            <a:pPr>
              <a:defRPr sz="2000"/>
            </a:pPr>
          </a:p>
          <a:p>
            <a:pPr>
              <a:defRPr sz="2000"/>
            </a:pPr>
            <a:r>
              <a:t>Option I: Payment of Rs. 10 lakhs per family directly.</a:t>
            </a:r>
          </a:p>
          <a:p>
            <a:pPr>
              <a:defRPr sz="2000"/>
            </a:pPr>
            <a:r>
              <a:t>No relocation process by the Forest Department.</a:t>
            </a:r>
          </a:p>
          <a:p>
            <a:pPr>
              <a:defRPr sz="2000"/>
            </a:pPr>
          </a:p>
          <a:p>
            <a:pPr>
              <a:defRPr sz="2000"/>
            </a:pPr>
            <a:r>
              <a:t>Option II: Forest Department carries out relocation/rehabilitation.</a:t>
            </a:r>
          </a:p>
          <a:p>
            <a:pPr>
              <a:defRPr sz="2000"/>
            </a:pPr>
            <a:r>
              <a:t>Package at Rs. 10 lakhs per family.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Option I: Monitoring and Handholding</a:t>
            </a:r>
          </a:p>
        </p:txBody>
      </p:sp>
      <p:sp>
        <p:nvSpPr>
          <p:cNvPr id="3" name="Content Placeholder 2"/>
          <p:cNvSpPr>
            <a:spLocks noGrp="1"/>
          </p:cNvSpPr>
          <p:nvPr>
            <p:ph idx="1"/>
          </p:nvPr>
        </p:nvSpPr>
        <p:spPr/>
        <p:txBody>
          <a:bodyPr/>
          <a:lstStyle/>
          <a:p>
            <a:pPr>
              <a:defRPr sz="2000"/>
            </a:pPr>
            <a:r>
              <a:t>District Magistrate monitoring to ensure proper rehabilitation.</a:t>
            </a:r>
          </a:p>
          <a:p>
            <a:pPr>
              <a:defRPr sz="2000"/>
            </a:pPr>
            <a:r>
              <a:t>Handholding by external agencies preferred.</a:t>
            </a:r>
          </a:p>
          <a:p>
            <a:pPr>
              <a:defRPr sz="2000"/>
            </a:pPr>
            <a:r>
              <a:t>Depositing a portion in a nationalized bank for income generation.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Option II: Package Breakdown (per family)</a:t>
            </a:r>
          </a:p>
        </p:txBody>
      </p:sp>
      <p:graphicFrame>
        <p:nvGraphicFramePr>
          <p:cNvPr id="3" name="Table 2"/>
          <p:cNvGraphicFramePr>
            <a:graphicFrameLocks noGrp="1"/>
          </p:cNvGraphicFramePr>
          <p:nvPr/>
        </p:nvGraphicFramePr>
        <p:xfrm>
          <a:off x="457200" y="1554798"/>
          <a:ext cx="8229599" cy="2093976"/>
        </p:xfrm>
        <a:graphic>
          <a:graphicData uri="http://schemas.openxmlformats.org/drawingml/2006/table">
            <a:tbl>
              <a:tblPr firstRow="1" bandRow="1">
                <a:tableStyleId>{5C22544A-7EE6-4342-B048-85BDC9FD1C3A}</a:tableStyleId>
              </a:tblPr>
              <a:tblGrid>
                <a:gridCol w="4190410"/>
                <a:gridCol w="4039189"/>
              </a:tblGrid>
              <a:tr h="320040">
                <a:tc>
                  <a:txBody>
                    <a:bodyPr anchor="ctr" wrap="square"/>
                    <a:lstStyle/>
                    <a:p>
                      <a:pPr algn="ctr">
                        <a:defRPr b="1" sz="1200">
                          <a:solidFill>
                            <a:srgbClr val="FFFFFF"/>
                          </a:solidFill>
                        </a:defRPr>
                      </a:pPr>
                      <a:r>
                        <a:t>Component</a:t>
                      </a:r>
                    </a:p>
                  </a:txBody>
                  <a:tcPr marL="36576" marR="36576" marT="18288" marB="18288">
                    <a:solidFill>
                      <a:srgbClr val="2C3E50"/>
                    </a:solidFill>
                  </a:tcPr>
                </a:tc>
                <a:tc>
                  <a:txBody>
                    <a:bodyPr anchor="ctr" wrap="square"/>
                    <a:lstStyle/>
                    <a:p>
                      <a:pPr algn="ctr">
                        <a:defRPr b="1" sz="1200">
                          <a:solidFill>
                            <a:srgbClr val="FFFFFF"/>
                          </a:solidFill>
                        </a:defRPr>
                      </a:pPr>
                      <a:r>
                        <a:t>Percentage of Total</a:t>
                      </a:r>
                    </a:p>
                    <a:p>
                      <a:pPr algn="ctr">
                        <a:defRPr b="1" sz="1200">
                          <a:solidFill>
                            <a:srgbClr val="FFFFFF"/>
                          </a:solidFill>
                        </a:defRPr>
                      </a:pPr>
                      <a:r>
                        <a:t>Package</a:t>
                      </a:r>
                    </a:p>
                  </a:txBody>
                  <a:tcPr marL="36576" marR="36576" marT="18288" marB="18288">
                    <a:solidFill>
                      <a:srgbClr val="2C3E50"/>
                    </a:solidFill>
                  </a:tcPr>
                </a:tc>
              </a:tr>
              <a:tr h="521208">
                <a:tc>
                  <a:txBody>
                    <a:bodyPr anchor="ctr" wrap="square"/>
                    <a:lstStyle/>
                    <a:p>
                      <a:pPr algn="l">
                        <a:defRPr sz="1100">
                          <a:solidFill>
                            <a:srgbClr val="323232"/>
                          </a:solidFill>
                        </a:defRPr>
                      </a:pPr>
                      <a:r>
                        <a:t>Agriculture land</a:t>
                      </a:r>
                    </a:p>
                    <a:p>
                      <a:pPr algn="l">
                        <a:defRPr sz="1100">
                          <a:solidFill>
                            <a:srgbClr val="323232"/>
                          </a:solidFill>
                        </a:defRPr>
                      </a:pPr>
                      <a:r>
                        <a:t>procurement and</a:t>
                      </a:r>
                    </a:p>
                    <a:p>
                      <a:pPr algn="l">
                        <a:defRPr sz="1100">
                          <a:solidFill>
                            <a:srgbClr val="323232"/>
                          </a:solidFill>
                        </a:defRPr>
                      </a:pPr>
                      <a:r>
                        <a:t>development (2 hectare)</a:t>
                      </a:r>
                    </a:p>
                  </a:txBody>
                  <a:tcPr marL="36576" marR="36576" marT="18288" marB="18288"/>
                </a:tc>
                <a:tc>
                  <a:txBody>
                    <a:bodyPr anchor="ctr" wrap="square"/>
                    <a:lstStyle/>
                    <a:p>
                      <a:pPr algn="l">
                        <a:defRPr sz="1100">
                          <a:solidFill>
                            <a:srgbClr val="323232"/>
                          </a:solidFill>
                        </a:defRPr>
                      </a:pPr>
                      <a:r>
                        <a:t>35%</a:t>
                      </a:r>
                    </a:p>
                  </a:txBody>
                  <a:tcPr marL="36576" marR="36576" marT="18288" marB="18288"/>
                </a:tc>
              </a:tr>
              <a:tr h="283464">
                <a:tc>
                  <a:txBody>
                    <a:bodyPr anchor="ctr" wrap="square"/>
                    <a:lstStyle/>
                    <a:p>
                      <a:pPr algn="l">
                        <a:defRPr sz="1100">
                          <a:solidFill>
                            <a:srgbClr val="323232"/>
                          </a:solidFill>
                        </a:defRPr>
                      </a:pPr>
                      <a:r>
                        <a:t>Settlement of rights</a:t>
                      </a:r>
                    </a:p>
                  </a:txBody>
                  <a:tcPr marL="36576" marR="36576" marT="18288" marB="18288"/>
                </a:tc>
                <a:tc>
                  <a:txBody>
                    <a:bodyPr anchor="ctr" wrap="square"/>
                    <a:lstStyle/>
                    <a:p>
                      <a:pPr algn="l">
                        <a:defRPr sz="1100">
                          <a:solidFill>
                            <a:srgbClr val="323232"/>
                          </a:solidFill>
                        </a:defRPr>
                      </a:pPr>
                      <a:r>
                        <a:t>30%</a:t>
                      </a:r>
                    </a:p>
                  </a:txBody>
                  <a:tcPr marL="36576" marR="36576" marT="18288" marB="18288"/>
                </a:tc>
              </a:tr>
              <a:tr h="402336">
                <a:tc>
                  <a:txBody>
                    <a:bodyPr anchor="ctr" wrap="square"/>
                    <a:lstStyle/>
                    <a:p>
                      <a:pPr algn="l">
                        <a:defRPr sz="1100">
                          <a:solidFill>
                            <a:srgbClr val="323232"/>
                          </a:solidFill>
                        </a:defRPr>
                      </a:pPr>
                      <a:r>
                        <a:t>Homestead land and house</a:t>
                      </a:r>
                    </a:p>
                    <a:p>
                      <a:pPr algn="l">
                        <a:defRPr sz="1100">
                          <a:solidFill>
                            <a:srgbClr val="323232"/>
                          </a:solidFill>
                        </a:defRPr>
                      </a:pPr>
                      <a:r>
                        <a:t>construction</a:t>
                      </a:r>
                    </a:p>
                  </a:txBody>
                  <a:tcPr marL="36576" marR="36576" marT="18288" marB="18288"/>
                </a:tc>
                <a:tc>
                  <a:txBody>
                    <a:bodyPr anchor="ctr" wrap="square"/>
                    <a:lstStyle/>
                    <a:p>
                      <a:pPr algn="l">
                        <a:defRPr sz="1100">
                          <a:solidFill>
                            <a:srgbClr val="323232"/>
                          </a:solidFill>
                        </a:defRPr>
                      </a:pPr>
                      <a:r>
                        <a:t>20%</a:t>
                      </a:r>
                    </a:p>
                  </a:txBody>
                  <a:tcPr marL="36576" marR="36576" marT="18288" marB="18288"/>
                </a:tc>
              </a:tr>
              <a:tr h="283464">
                <a:tc>
                  <a:txBody>
                    <a:bodyPr anchor="ctr" wrap="square"/>
                    <a:lstStyle/>
                    <a:p>
                      <a:pPr algn="l">
                        <a:defRPr sz="1100">
                          <a:solidFill>
                            <a:srgbClr val="323232"/>
                          </a:solidFill>
                        </a:defRPr>
                      </a:pPr>
                      <a:r>
                        <a:t>Incentive</a:t>
                      </a:r>
                    </a:p>
                  </a:txBody>
                  <a:tcPr marL="36576" marR="36576" marT="18288" marB="18288"/>
                </a:tc>
                <a:tc>
                  <a:txBody>
                    <a:bodyPr anchor="ctr" wrap="square"/>
                    <a:lstStyle/>
                    <a:p>
                      <a:pPr algn="l">
                        <a:defRPr sz="1100">
                          <a:solidFill>
                            <a:srgbClr val="323232"/>
                          </a:solidFill>
                        </a:defRPr>
                      </a:pPr>
                      <a:r>
                        <a:t>5%</a:t>
                      </a:r>
                    </a:p>
                  </a:txBody>
                  <a:tcPr marL="36576" marR="36576" marT="18288" marB="18288"/>
                </a:tc>
              </a:tr>
              <a:tr h="283464">
                <a:tc>
                  <a:txBody>
                    <a:bodyPr anchor="ctr" wrap="square"/>
                    <a:lstStyle/>
                    <a:p>
                      <a:pPr algn="l">
                        <a:defRPr sz="1100">
                          <a:solidFill>
                            <a:srgbClr val="323232"/>
                          </a:solidFill>
                        </a:defRPr>
                      </a:pPr>
                      <a:r>
                        <a:t>Community facilities</a:t>
                      </a:r>
                    </a:p>
                  </a:txBody>
                  <a:tcPr marL="36576" marR="36576" marT="18288" marB="18288"/>
                </a:tc>
                <a:tc>
                  <a:txBody>
                    <a:bodyPr anchor="ctr" wrap="square"/>
                    <a:lstStyle/>
                    <a:p>
                      <a:pPr algn="l">
                        <a:defRPr sz="1100">
                          <a:solidFill>
                            <a:srgbClr val="323232"/>
                          </a:solidFill>
                        </a:defRPr>
                      </a:pPr>
                      <a:r>
                        <a:t>10%</a:t>
                      </a:r>
                    </a:p>
                  </a:txBody>
                  <a:tcPr marL="36576" marR="36576" marT="18288" marB="18288"/>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Relocation Process: Monitoring Committees</a:t>
            </a:r>
          </a:p>
        </p:txBody>
      </p:sp>
      <p:sp>
        <p:nvSpPr>
          <p:cNvPr id="3" name="Content Placeholder 2"/>
          <p:cNvSpPr>
            <a:spLocks noGrp="1"/>
          </p:cNvSpPr>
          <p:nvPr>
            <p:ph idx="1"/>
          </p:nvPr>
        </p:nvSpPr>
        <p:spPr/>
        <p:txBody>
          <a:bodyPr/>
          <a:lstStyle/>
          <a:p>
            <a:pPr>
              <a:defRPr sz="2000"/>
            </a:pPr>
            <a:r>
              <a:t>Two Committees to monitor/implement the relocation process:</a:t>
            </a:r>
          </a:p>
          <a:p>
            <a:pPr>
              <a:defRPr sz="2000"/>
            </a:pPr>
          </a:p>
          <a:p>
            <a:pPr>
              <a:defRPr sz="2000"/>
            </a:pPr>
            <a:r>
              <a:t>State Level Monitoring Committee:</a:t>
            </a:r>
          </a:p>
          <a:p>
            <a:pPr>
              <a:defRPr sz="2000"/>
            </a:pPr>
            <a:r>
              <a:t>Chief Secretary (Chairman), Secretaries of related departments, State PCCF, Non-official members, Chief Wildlife Warden (Member-Secretary).</a:t>
            </a:r>
          </a:p>
          <a:p>
            <a:pPr>
              <a:defRPr sz="2000"/>
            </a:pPr>
          </a:p>
          <a:p>
            <a:pPr>
              <a:defRPr sz="2000"/>
            </a:pPr>
            <a:r>
              <a:t>District Level Implementing Committee: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Relocation Process: Monitoring Committees (cont.)</a:t>
            </a:r>
          </a:p>
        </p:txBody>
      </p:sp>
      <p:sp>
        <p:nvSpPr>
          <p:cNvPr id="3" name="Content Placeholder 2"/>
          <p:cNvSpPr>
            <a:spLocks noGrp="1"/>
          </p:cNvSpPr>
          <p:nvPr>
            <p:ph idx="1"/>
          </p:nvPr>
        </p:nvSpPr>
        <p:spPr/>
        <p:txBody>
          <a:bodyPr/>
          <a:lstStyle/>
          <a:p>
            <a:pPr>
              <a:defRPr sz="2000"/>
            </a:pPr>
            <a:r>
              <a:t>District Collector (Chairman), CEO, Representatives, Deputy Director of Tiger Reserve (Member Secretary).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Flexibility and Priority</a:t>
            </a:r>
          </a:p>
        </p:txBody>
      </p:sp>
      <p:sp>
        <p:nvSpPr>
          <p:cNvPr id="3" name="Content Placeholder 2"/>
          <p:cNvSpPr>
            <a:spLocks noGrp="1"/>
          </p:cNvSpPr>
          <p:nvPr>
            <p:ph idx="1"/>
          </p:nvPr>
        </p:nvSpPr>
        <p:spPr/>
        <p:txBody>
          <a:bodyPr/>
          <a:lstStyle/>
          <a:p>
            <a:pPr>
              <a:defRPr sz="2000"/>
            </a:pPr>
            <a:r>
              <a:t>Cost norms are indicative, allowing flexibility for site-specific adjustments by State Governments.</a:t>
            </a:r>
          </a:p>
          <a:p>
            <a:pPr>
              <a:defRPr sz="2000"/>
            </a:pPr>
            <a:r>
              <a:t>Relocated villages prioritized for eco-development through convergence of District level schemes.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Implementation and Access</a:t>
            </a:r>
          </a:p>
        </p:txBody>
      </p:sp>
      <p:sp>
        <p:nvSpPr>
          <p:cNvPr id="3" name="Content Placeholder 2"/>
          <p:cNvSpPr>
            <a:spLocks noGrp="1"/>
          </p:cNvSpPr>
          <p:nvPr>
            <p:ph idx="1"/>
          </p:nvPr>
        </p:nvSpPr>
        <p:spPr/>
        <p:txBody>
          <a:bodyPr/>
          <a:lstStyle/>
          <a:p>
            <a:pPr>
              <a:defRPr sz="2000"/>
            </a:pPr>
            <a:r>
              <a:t>Labour oriented works preferably implemented through villagers being relocated.</a:t>
            </a:r>
          </a:p>
          <a:p>
            <a:pPr>
              <a:defRPr sz="2000"/>
            </a:pPr>
            <a:r>
              <a:t>New settlements on forest land eligible for access to forest resources.</a:t>
            </a:r>
          </a:p>
          <a:p>
            <a:pPr>
              <a:defRPr sz="2000"/>
            </a:pPr>
            <a:r>
              <a:t>District Administration facilitates fair price shops, education, and health centers.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Ongoing Support and Livelihood</a:t>
            </a:r>
          </a:p>
        </p:txBody>
      </p:sp>
      <p:sp>
        <p:nvSpPr>
          <p:cNvPr id="3" name="Content Placeholder 2"/>
          <p:cNvSpPr>
            <a:spLocks noGrp="1"/>
          </p:cNvSpPr>
          <p:nvPr>
            <p:ph idx="1"/>
          </p:nvPr>
        </p:nvSpPr>
        <p:spPr/>
        <p:txBody>
          <a:bodyPr/>
          <a:lstStyle/>
          <a:p>
            <a:pPr>
              <a:defRPr sz="2000"/>
            </a:pPr>
            <a:r>
              <a:t>"Handholding" after relocation through forest department and district administration.</a:t>
            </a:r>
          </a:p>
          <a:p>
            <a:pPr>
              <a:defRPr sz="2000"/>
            </a:pPr>
            <a:r>
              <a:t>Help of competent independent agencies sought.</a:t>
            </a:r>
          </a:p>
          <a:p>
            <a:pPr>
              <a:defRPr sz="2000"/>
            </a:pPr>
            <a:r>
              <a:t>Relocated villagers given priority for livelihood options from the protected area.</a:t>
            </a:r>
          </a:p>
          <a:p>
            <a:pPr>
              <a:defRPr sz="2000"/>
            </a:pPr>
            <a:r>
              <a:t>If cost exceeds Rs. 10 lakhs, State Government covers extra cost.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Open-Ended Relocation Process</a:t>
            </a:r>
          </a:p>
        </p:txBody>
      </p:sp>
      <p:sp>
        <p:nvSpPr>
          <p:cNvPr id="3" name="Content Placeholder 2"/>
          <p:cNvSpPr>
            <a:spLocks noGrp="1"/>
          </p:cNvSpPr>
          <p:nvPr>
            <p:ph idx="1"/>
          </p:nvPr>
        </p:nvSpPr>
        <p:spPr/>
        <p:txBody>
          <a:bodyPr/>
          <a:lstStyle/>
          <a:p>
            <a:pPr>
              <a:defRPr sz="2000"/>
            </a:pPr>
            <a:r>
              <a:t>Relocation process is open ended.</a:t>
            </a:r>
          </a:p>
          <a:p>
            <a:pPr>
              <a:defRPr sz="2000"/>
            </a:pPr>
            <a:r>
              <a:t>Progress depends on State performance.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FF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Mainstreaming Wildlife Concerns</a:t>
            </a:r>
          </a:p>
        </p:txBody>
      </p:sp>
      <p:sp>
        <p:nvSpPr>
          <p:cNvPr id="3" name="Text Placeholder 2"/>
          <p:cNvSpPr>
            <a:spLocks noGrp="1"/>
          </p:cNvSpPr>
          <p:nvPr>
            <p:ph type="body" idx="1"/>
          </p:nvPr>
        </p:nvSpPr>
        <p:spPr/>
        <p:txBody>
          <a:bodyPr/>
          <a:lstStyle/>
          <a:p>
            <a:pPr>
              <a:defRPr sz="2200"/>
            </a:pPr>
            <a:r>
              <a:t>Fostering corridor conservation through restorative strategy, involving locals to arrest habitat fragmentation.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Wildlife Concerns in Corridors</a:t>
            </a:r>
          </a:p>
        </p:txBody>
      </p:sp>
      <p:sp>
        <p:nvSpPr>
          <p:cNvPr id="3" name="Content Placeholder 2"/>
          <p:cNvSpPr>
            <a:spLocks noGrp="1"/>
          </p:cNvSpPr>
          <p:nvPr>
            <p:ph idx="1"/>
          </p:nvPr>
        </p:nvSpPr>
        <p:spPr/>
        <p:txBody>
          <a:bodyPr/>
          <a:lstStyle/>
          <a:p>
            <a:pPr>
              <a:defRPr sz="2000"/>
            </a:pPr>
            <a:r>
              <a:t>Forests connecting Tiger Reserves often have tigers and other wildlife.</a:t>
            </a:r>
          </a:p>
          <a:p>
            <a:pPr>
              <a:defRPr sz="2000"/>
            </a:pPr>
            <a:r>
              <a:t>No current scheme addresses wildlife concerns in these areas.</a:t>
            </a:r>
          </a:p>
          <a:p>
            <a:pPr>
              <a:defRPr sz="2000"/>
            </a:pPr>
            <a:r>
              <a:t>Wild Life (Protection) Amendment Act, 2006 addresses corridor areas.</a:t>
            </a:r>
          </a:p>
          <a:p>
            <a:pPr>
              <a:defRPr sz="2000"/>
            </a:pPr>
            <a:r>
              <a:t>Involves:</a:t>
            </a:r>
          </a:p>
          <a:p>
            <a:pPr>
              <a:defRPr sz="2000"/>
            </a:pPr>
            <a:r>
              <a:t>Redressing man-animal conflict</a:t>
            </a:r>
          </a:p>
          <a:p>
            <a:pPr>
              <a:defRPr sz="2000"/>
            </a:pPr>
            <a:r>
              <a:t>Capturing problematic animals</a:t>
            </a:r>
          </a:p>
          <a:p>
            <a:pPr>
              <a:defRPr sz="2000"/>
            </a:pPr>
            <a:r>
              <a:t>Monitoring wildlife</a:t>
            </a:r>
          </a:p>
          <a:p>
            <a:pPr>
              <a:defRPr sz="2000"/>
            </a:pPr>
            <a:r>
              <a:t>Antipoaching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Wildlife Concerns in Corridors (cont.)</a:t>
            </a:r>
          </a:p>
        </p:txBody>
      </p:sp>
      <p:sp>
        <p:nvSpPr>
          <p:cNvPr id="3" name="Content Placeholder 2"/>
          <p:cNvSpPr>
            <a:spLocks noGrp="1"/>
          </p:cNvSpPr>
          <p:nvPr>
            <p:ph idx="1"/>
          </p:nvPr>
        </p:nvSpPr>
        <p:spPr/>
        <p:txBody>
          <a:bodyPr/>
          <a:lstStyle/>
          <a:p>
            <a:pPr>
              <a:defRPr sz="2000"/>
            </a:pPr>
            <a:r>
              <a:t>Habitat improvement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Man-Animal Conflict and Mitigation</a:t>
            </a:r>
          </a:p>
        </p:txBody>
      </p:sp>
      <p:sp>
        <p:nvSpPr>
          <p:cNvPr id="3" name="Content Placeholder 2"/>
          <p:cNvSpPr>
            <a:spLocks noGrp="1"/>
          </p:cNvSpPr>
          <p:nvPr>
            <p:ph idx="1"/>
          </p:nvPr>
        </p:nvSpPr>
        <p:spPr/>
        <p:txBody>
          <a:bodyPr/>
          <a:lstStyle/>
          <a:p>
            <a:pPr>
              <a:defRPr sz="2000"/>
            </a:pPr>
            <a:r>
              <a:t>Communities near Parks, Sanctuaries, and Tiger Reserves suffer crop depredation.</a:t>
            </a:r>
          </a:p>
          <a:p>
            <a:pPr>
              <a:defRPr sz="2000"/>
            </a:pPr>
            <a:r>
              <a:t>Caused by herbivores like blue bull, black buck, wild pig, and elephants.</a:t>
            </a:r>
          </a:p>
          <a:p>
            <a:pPr>
              <a:defRPr sz="2000"/>
            </a:pPr>
            <a:r>
              <a:t>Situation acute where people depend on single annual rain fed crop.</a:t>
            </a:r>
          </a:p>
          <a:p>
            <a:pPr>
              <a:defRPr sz="2000"/>
            </a:pPr>
            <a:r>
              <a:t>This is a major reason for man-animal conflicts.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Tiger Conservation</a:t>
            </a:r>
          </a:p>
        </p:txBody>
      </p:sp>
      <p:sp>
        <p:nvSpPr>
          <p:cNvPr id="3" name="Subtitle 2"/>
          <p:cNvSpPr>
            <a:spLocks noGrp="1"/>
          </p:cNvSpPr>
          <p:nvPr>
            <p:ph type="subTitle" idx="1"/>
          </p:nvPr>
        </p:nvSpPr>
        <p:spPr/>
        <p:txBody>
          <a:bodyPr/>
          <a:lstStyle/>
          <a:p>
            <a:pPr>
              <a:defRPr sz="2400" i="1"/>
            </a:pPr>
            <a:r>
              <a:t>Strategies and Measures for Wildlife Protection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Human-Wildlife Conflict</a:t>
            </a:r>
          </a:p>
        </p:txBody>
      </p:sp>
      <p:sp>
        <p:nvSpPr>
          <p:cNvPr id="3" name="Content Placeholder 2"/>
          <p:cNvSpPr>
            <a:spLocks noGrp="1"/>
          </p:cNvSpPr>
          <p:nvPr>
            <p:ph idx="1"/>
          </p:nvPr>
        </p:nvSpPr>
        <p:spPr/>
        <p:txBody>
          <a:bodyPr/>
          <a:lstStyle/>
          <a:p>
            <a:pPr>
              <a:defRPr sz="2000"/>
            </a:pPr>
            <a:r>
              <a:t>Reserves and Protected Areas are vital, yet local support</a:t>
            </a:r>
          </a:p>
          <a:p>
            <a:pPr>
              <a:defRPr sz="2000"/>
            </a:pPr>
            <a:r>
              <a:t>is often lacking due to conflict.</a:t>
            </a:r>
          </a:p>
          <a:p>
            <a:pPr>
              <a:defRPr sz="2000"/>
            </a:pPr>
            <a:r>
              <a:t>Section 11 of the Wildlife (Protection) Act allows for</a:t>
            </a:r>
          </a:p>
          <a:p>
            <a:pPr>
              <a:defRPr sz="2000"/>
            </a:pPr>
            <a:r>
              <a:t>killing problem animals, but this clashes with local</a:t>
            </a:r>
          </a:p>
          <a:p>
            <a:pPr>
              <a:defRPr sz="2000"/>
            </a:pPr>
            <a:r>
              <a:t>sentiments. Trapping and translocation are often</a:t>
            </a:r>
          </a:p>
          <a:p>
            <a:pPr>
              <a:defRPr sz="2000"/>
            </a:pPr>
            <a:r>
              <a:t>impractical.</a:t>
            </a:r>
          </a:p>
          <a:p>
            <a:pPr>
              <a:defRPr sz="2000"/>
            </a:pPr>
            <a:r>
              <a:t>Compensation for stakeholder communities near Tiger</a:t>
            </a:r>
          </a:p>
          <a:p>
            <a:pPr>
              <a:defRPr sz="2000"/>
            </a:pPr>
            <a:r>
              <a:t>Reserves is crucial, as per Section 38V of the Wild Life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Addressing Human-Wildlife Conflict (cont.)</a:t>
            </a:r>
          </a:p>
        </p:txBody>
      </p:sp>
      <p:sp>
        <p:nvSpPr>
          <p:cNvPr id="3" name="Content Placeholder 2"/>
          <p:cNvSpPr>
            <a:spLocks noGrp="1"/>
          </p:cNvSpPr>
          <p:nvPr>
            <p:ph idx="1"/>
          </p:nvPr>
        </p:nvSpPr>
        <p:spPr/>
        <p:txBody>
          <a:bodyPr/>
          <a:lstStyle/>
          <a:p>
            <a:pPr>
              <a:defRPr sz="2000"/>
            </a:pPr>
            <a:r>
              <a:t>(Protection) Act, 1972.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Safeguards for Wildlife Conservation</a:t>
            </a:r>
          </a:p>
        </p:txBody>
      </p:sp>
      <p:sp>
        <p:nvSpPr>
          <p:cNvPr id="3" name="Content Placeholder 2"/>
          <p:cNvSpPr>
            <a:spLocks noGrp="1"/>
          </p:cNvSpPr>
          <p:nvPr>
            <p:ph idx="1"/>
          </p:nvPr>
        </p:nvSpPr>
        <p:spPr/>
        <p:txBody>
          <a:bodyPr/>
          <a:lstStyle/>
          <a:p>
            <a:pPr>
              <a:defRPr sz="2000"/>
            </a:pPr>
            <a:r>
              <a:t>Tiger Reserves often face challenges from infrastructure</a:t>
            </a:r>
          </a:p>
          <a:p>
            <a:pPr>
              <a:defRPr sz="2000"/>
            </a:pPr>
            <a:r>
              <a:t>like roads and railways. High-tension electric lines cause</a:t>
            </a:r>
          </a:p>
          <a:p>
            <a:pPr>
              <a:defRPr sz="2000"/>
            </a:pPr>
            <a:r>
              <a:t>electrocution.</a:t>
            </a:r>
          </a:p>
          <a:p>
            <a:pPr>
              <a:defRPr sz="2000"/>
            </a:pPr>
            <a:r>
              <a:t>Site-specific safeguards and retrofitting measures are</a:t>
            </a:r>
          </a:p>
          <a:p>
            <a:pPr>
              <a:defRPr sz="2000"/>
            </a:pPr>
            <a:r>
              <a:t>necessary to mitigate these impacts.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Tiger Headquarter Expenditure</a:t>
            </a:r>
          </a:p>
        </p:txBody>
      </p:sp>
      <p:sp>
        <p:nvSpPr>
          <p:cNvPr id="3" name="Content Placeholder 2"/>
          <p:cNvSpPr>
            <a:spLocks noGrp="1"/>
          </p:cNvSpPr>
          <p:nvPr>
            <p:ph idx="1"/>
          </p:nvPr>
        </p:nvSpPr>
        <p:spPr/>
        <p:txBody>
          <a:bodyPr/>
          <a:lstStyle/>
          <a:p>
            <a:pPr>
              <a:defRPr sz="2000"/>
            </a:pPr>
            <a:r>
              <a:t>Providing basic infrastructure, consultancy, tiger estimation</a:t>
            </a:r>
          </a:p>
          <a:p>
            <a:pPr>
              <a:defRPr sz="2000"/>
            </a:pPr>
            <a:r>
              <a:t>and monitoring outside reserves, and strengthening NTCA.</a:t>
            </a:r>
          </a:p>
          <a:p>
            <a:pPr>
              <a:defRPr sz="2000"/>
            </a:pPr>
          </a:p>
          <a:p>
            <a:pPr>
              <a:defRPr sz="2000"/>
            </a:pPr>
            <a:r>
              <a:t>Envisaged activities:</a:t>
            </a:r>
          </a:p>
          <a:p>
            <a:pPr>
              <a:defRPr sz="2000"/>
            </a:pPr>
            <a:r>
              <a:t>Creation of office space in Delhi for NTCA.</a:t>
            </a:r>
          </a:p>
          <a:p>
            <a:pPr>
              <a:defRPr sz="2000"/>
            </a:pPr>
            <a:r>
              <a:t>Creation of GIS laboratory at the Wildlife Institute of</a:t>
            </a:r>
          </a:p>
          <a:p>
            <a:pPr>
              <a:defRPr sz="2000"/>
            </a:pPr>
            <a:r>
              <a:t>India.</a:t>
            </a:r>
          </a:p>
          <a:p>
            <a:pPr>
              <a:defRPr sz="2000"/>
            </a:pPr>
            <a:r>
              <a:t>All India Tiger Estimation and monitoring.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Tiger Headquarter Expenditure (cont.)</a:t>
            </a:r>
          </a:p>
        </p:txBody>
      </p:sp>
      <p:sp>
        <p:nvSpPr>
          <p:cNvPr id="3" name="Content Placeholder 2"/>
          <p:cNvSpPr>
            <a:spLocks noGrp="1"/>
          </p:cNvSpPr>
          <p:nvPr>
            <p:ph idx="1"/>
          </p:nvPr>
        </p:nvSpPr>
        <p:spPr/>
        <p:txBody>
          <a:bodyPr/>
          <a:lstStyle/>
          <a:p>
            <a:pPr>
              <a:defRPr sz="2000"/>
            </a:pPr>
            <a:r>
              <a:t>Support for research work.</a:t>
            </a:r>
          </a:p>
          <a:p>
            <a:pPr>
              <a:defRPr sz="2000"/>
            </a:pPr>
            <a:r>
              <a:t>Contractual arrangements for special studies.</a:t>
            </a:r>
          </a:p>
          <a:p>
            <a:pPr>
              <a:defRPr sz="2000"/>
            </a:pPr>
            <a:r>
              <a:t>International / National Workshops.</a:t>
            </a:r>
          </a:p>
          <a:p>
            <a:pPr>
              <a:defRPr sz="2000"/>
            </a:pPr>
            <a:r>
              <a:t>Data entry and analysis.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Independent Monitoring and Evaluation</a:t>
            </a:r>
          </a:p>
        </p:txBody>
      </p:sp>
      <p:sp>
        <p:nvSpPr>
          <p:cNvPr id="3" name="Content Placeholder 2"/>
          <p:cNvSpPr>
            <a:spLocks noGrp="1"/>
          </p:cNvSpPr>
          <p:nvPr>
            <p:ph idx="1"/>
          </p:nvPr>
        </p:nvSpPr>
        <p:spPr/>
        <p:txBody>
          <a:bodyPr/>
          <a:lstStyle/>
          <a:p>
            <a:pPr>
              <a:defRPr sz="2000"/>
            </a:pPr>
            <a:r>
              <a:t>Ongoing independent monitoring of tiger reserves using</a:t>
            </a:r>
          </a:p>
          <a:p>
            <a:pPr>
              <a:defRPr sz="2000"/>
            </a:pPr>
            <a:r>
              <a:t>45 parameters, based on IUCN format.</a:t>
            </a:r>
          </a:p>
          <a:p>
            <a:pPr>
              <a:defRPr sz="2000"/>
            </a:pPr>
            <a:r>
              <a:t>Monitoring reports are peer-reviewed by IUCN and</a:t>
            </a:r>
          </a:p>
          <a:p>
            <a:pPr>
              <a:defRPr sz="2000"/>
            </a:pPr>
            <a:r>
              <a:t>presented before Parliament.</a:t>
            </a:r>
          </a:p>
          <a:p>
            <a:pPr>
              <a:defRPr sz="2000"/>
            </a:pPr>
            <a:r>
              <a:t>This process will continue with refinements.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Ecosystem Approach</a:t>
            </a:r>
          </a:p>
        </p:txBody>
      </p:sp>
      <p:sp>
        <p:nvSpPr>
          <p:cNvPr id="3" name="Content Placeholder 2"/>
          <p:cNvSpPr>
            <a:spLocks noGrp="1"/>
          </p:cNvSpPr>
          <p:nvPr>
            <p:ph idx="1"/>
          </p:nvPr>
        </p:nvSpPr>
        <p:spPr/>
        <p:txBody>
          <a:bodyPr/>
          <a:lstStyle/>
          <a:p>
            <a:pPr>
              <a:defRPr sz="2000"/>
            </a:pPr>
            <a:r>
              <a:t>‘Project Tiger’ employs a holistic ecosystem approach, focusing</a:t>
            </a:r>
          </a:p>
          <a:p>
            <a:pPr>
              <a:defRPr sz="2000"/>
            </a:pPr>
            <a:r>
              <a:t>on the tiger while maintaining the stability of the entire food</a:t>
            </a:r>
          </a:p>
          <a:p>
            <a:pPr>
              <a:defRPr sz="2000"/>
            </a:pPr>
            <a:r>
              <a:t>chain.</a:t>
            </a:r>
          </a:p>
          <a:p>
            <a:pPr>
              <a:defRPr sz="2000"/>
            </a:pPr>
            <a:r>
              <a:t>Community pressures on forests are increasing, leading to</a:t>
            </a:r>
          </a:p>
          <a:p>
            <a:pPr>
              <a:defRPr sz="2000"/>
            </a:pPr>
            <a:r>
              <a:t>fragile tiger habitats.</a:t>
            </a:r>
          </a:p>
          <a:p>
            <a:pPr>
              <a:defRPr sz="2000"/>
            </a:pPr>
            <a:r>
              <a:t>Protected areas are like 'islands' losing species due to</a:t>
            </a:r>
          </a:p>
          <a:p>
            <a:pPr>
              <a:defRPr sz="2000"/>
            </a:pPr>
            <a:r>
              <a:t>ecological insularization.</a:t>
            </a:r>
          </a:p>
          <a:p>
            <a:pPr>
              <a:defRPr sz="2000"/>
            </a:pPr>
            <a:r>
              <a:t>Fragmentation, degraded forest cover, prey-predator imbalances,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Ecosystem Approach (cont.)</a:t>
            </a:r>
          </a:p>
        </p:txBody>
      </p:sp>
      <p:sp>
        <p:nvSpPr>
          <p:cNvPr id="3" name="Content Placeholder 2"/>
          <p:cNvSpPr>
            <a:spLocks noGrp="1"/>
          </p:cNvSpPr>
          <p:nvPr>
            <p:ph idx="1"/>
          </p:nvPr>
        </p:nvSpPr>
        <p:spPr/>
        <p:txBody>
          <a:bodyPr/>
          <a:lstStyle/>
          <a:p>
            <a:pPr>
              <a:defRPr sz="2000"/>
            </a:pPr>
            <a:r>
              <a:t>and a lack of protection measures exacerbate the issue.</a:t>
            </a:r>
          </a:p>
          <a:p>
            <a:pPr>
              <a:defRPr sz="2000"/>
            </a:pPr>
            <a:r>
              <a:t>'Project Tiger' aims to address these challenges and secure</a:t>
            </a:r>
          </a:p>
          <a:p>
            <a:pPr>
              <a:defRPr sz="2000"/>
            </a:pPr>
            <a:r>
              <a:t>tiger populations.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New Tiger Reserves</a:t>
            </a:r>
          </a:p>
        </p:txBody>
      </p:sp>
      <p:sp>
        <p:nvSpPr>
          <p:cNvPr id="3" name="Content Placeholder 2"/>
          <p:cNvSpPr>
            <a:spLocks noGrp="1"/>
          </p:cNvSpPr>
          <p:nvPr>
            <p:ph idx="1"/>
          </p:nvPr>
        </p:nvSpPr>
        <p:spPr/>
        <p:txBody>
          <a:bodyPr/>
          <a:lstStyle/>
          <a:p>
            <a:pPr>
              <a:defRPr sz="2000"/>
            </a:pPr>
            <a:r>
              <a:t>Steering Committee recommended new areas to increase Project</a:t>
            </a:r>
          </a:p>
          <a:p>
            <a:pPr>
              <a:defRPr sz="2000"/>
            </a:pPr>
            <a:r>
              <a:t>Tiger area from 37761 sq. kms. to 50,000 sq. kms.</a:t>
            </a:r>
          </a:p>
          <a:p>
            <a:pPr>
              <a:defRPr sz="2000"/>
            </a:pPr>
            <a:r>
              <a:t>Proposals for new Tiger Reserves were received and approved in</a:t>
            </a:r>
          </a:p>
          <a:p>
            <a:pPr>
              <a:defRPr sz="2000"/>
            </a:pPr>
            <a:r>
              <a:t>principle.</a:t>
            </a:r>
          </a:p>
          <a:p>
            <a:pPr>
              <a:defRPr sz="2000"/>
            </a:pPr>
          </a:p>
          <a:p>
            <a:pPr>
              <a:defRPr sz="2000"/>
            </a:pPr>
            <a:r>
              <a:t>(i) Anamalai -Parambikulam Wildlife Sanctuaries</a:t>
            </a:r>
          </a:p>
          <a:p>
            <a:pPr>
              <a:defRPr sz="2000"/>
            </a:pPr>
            <a:r>
              <a:t>Tamil Nadu &amp; Kerala</a:t>
            </a:r>
          </a:p>
          <a:p>
            <a:pPr>
              <a:defRPr sz="2000"/>
            </a:pPr>
            <a:r>
              <a:t>(ii) Udanti and Sita Nadi Wildlife Sanctuaries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New Tiger Reserves (cont.)</a:t>
            </a:r>
          </a:p>
        </p:txBody>
      </p:sp>
      <p:sp>
        <p:nvSpPr>
          <p:cNvPr id="3" name="Content Placeholder 2"/>
          <p:cNvSpPr>
            <a:spLocks noGrp="1"/>
          </p:cNvSpPr>
          <p:nvPr>
            <p:ph idx="1"/>
          </p:nvPr>
        </p:nvSpPr>
        <p:spPr/>
        <p:txBody>
          <a:bodyPr/>
          <a:lstStyle/>
          <a:p>
            <a:pPr>
              <a:defRPr sz="2000"/>
            </a:pPr>
            <a:r>
              <a:t>Chattisgarh</a:t>
            </a:r>
          </a:p>
          <a:p>
            <a:pPr>
              <a:defRPr sz="2000"/>
            </a:pPr>
            <a:r>
              <a:t>(iii) Satkosia Wildlife Sanctuary</a:t>
            </a:r>
          </a:p>
          <a:p>
            <a:pPr>
              <a:defRPr sz="2000"/>
            </a:pPr>
            <a:r>
              <a:t>Orissa</a:t>
            </a:r>
          </a:p>
          <a:p>
            <a:pPr>
              <a:defRPr sz="2000"/>
            </a:pPr>
            <a:r>
              <a:t>(iv) Kaziranga National Park</a:t>
            </a:r>
          </a:p>
          <a:p>
            <a:pPr>
              <a:defRPr sz="2000"/>
            </a:pPr>
            <a:r>
              <a:t>Assam</a:t>
            </a:r>
          </a:p>
          <a:p>
            <a:pPr>
              <a:defRPr sz="2000"/>
            </a:pPr>
            <a:r>
              <a:t>(v) Achanakmar Wildlife Sanctuary</a:t>
            </a:r>
          </a:p>
          <a:p>
            <a:pPr>
              <a:defRPr sz="2000"/>
            </a:pPr>
            <a:r>
              <a:t>Chattisgarh</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New Tiger Reserves (cont.)</a:t>
            </a:r>
          </a:p>
        </p:txBody>
      </p:sp>
      <p:sp>
        <p:nvSpPr>
          <p:cNvPr id="3" name="Content Placeholder 2"/>
          <p:cNvSpPr>
            <a:spLocks noGrp="1"/>
          </p:cNvSpPr>
          <p:nvPr>
            <p:ph idx="1"/>
          </p:nvPr>
        </p:nvSpPr>
        <p:spPr/>
        <p:txBody>
          <a:bodyPr/>
          <a:lstStyle/>
          <a:p>
            <a:pPr>
              <a:defRPr sz="2000"/>
            </a:pPr>
            <a:r>
              <a:t>(vi) Dandeli Wildlife Sanctuary and Anshi National Park</a:t>
            </a:r>
          </a:p>
          <a:p>
            <a:pPr>
              <a:defRPr sz="2000"/>
            </a:pPr>
            <a:r>
              <a:t>Karnataka</a:t>
            </a:r>
          </a:p>
          <a:p>
            <a:pPr>
              <a:defRPr sz="2000"/>
            </a:pPr>
            <a:r>
              <a:t>(vii) Sanjay National Park and Sanjay Dubri Wildlife Sanctuary</a:t>
            </a:r>
          </a:p>
          <a:p>
            <a:pPr>
              <a:defRPr sz="2000"/>
            </a:pPr>
            <a:r>
              <a:t>Madhya Pradesh</a:t>
            </a:r>
          </a:p>
          <a:p>
            <a:pPr>
              <a:defRPr sz="2000"/>
            </a:pPr>
            <a:r>
              <a:t>(viii) Mudumalai Wildlife Sanctuary</a:t>
            </a:r>
          </a:p>
          <a:p>
            <a:pPr>
              <a:defRPr sz="2000"/>
            </a:pPr>
            <a:r>
              <a:t>Tamil Nadu</a:t>
            </a:r>
          </a:p>
          <a:p>
            <a:pPr>
              <a:defRPr sz="2000"/>
            </a:p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New Tiger Reserves (cont.)</a:t>
            </a:r>
          </a:p>
        </p:txBody>
      </p:sp>
      <p:sp>
        <p:nvSpPr>
          <p:cNvPr id="3" name="Content Placeholder 2"/>
          <p:cNvSpPr>
            <a:spLocks noGrp="1"/>
          </p:cNvSpPr>
          <p:nvPr>
            <p:ph idx="1"/>
          </p:nvPr>
        </p:nvSpPr>
        <p:spPr/>
        <p:txBody>
          <a:bodyPr/>
          <a:lstStyle/>
          <a:p>
            <a:pPr>
              <a:defRPr sz="2000"/>
            </a:pPr>
            <a:r>
              <a:t>A total of 8 new Tiger Reserves are proposed with an additional</a:t>
            </a:r>
          </a:p>
          <a:p>
            <a:pPr>
              <a:defRPr sz="2000"/>
            </a:pPr>
            <a:r>
              <a:t>financial implication of Rs. 32.00 crores.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Allowance for Staff</a:t>
            </a:r>
          </a:p>
        </p:txBody>
      </p:sp>
      <p:sp>
        <p:nvSpPr>
          <p:cNvPr id="3" name="Content Placeholder 2"/>
          <p:cNvSpPr>
            <a:spLocks noGrp="1"/>
          </p:cNvSpPr>
          <p:nvPr>
            <p:ph idx="1"/>
          </p:nvPr>
        </p:nvSpPr>
        <p:spPr/>
        <p:txBody>
          <a:bodyPr/>
          <a:lstStyle/>
          <a:p>
            <a:pPr>
              <a:defRPr sz="2000"/>
            </a:pPr>
            <a:r>
              <a:t>Project Allowance for Tiger Reserve staff as approved during the</a:t>
            </a:r>
          </a:p>
          <a:p>
            <a:pPr>
              <a:defRPr sz="2000"/>
            </a:pPr>
            <a:r>
              <a:t>IX plan period:</a:t>
            </a:r>
          </a:p>
          <a:p>
            <a:pPr>
              <a:defRPr sz="2000"/>
            </a:pPr>
            <a:r>
              <a:t>(a) Field Director - @ Rs. 1000 per month</a:t>
            </a:r>
          </a:p>
          <a:p>
            <a:pPr>
              <a:defRPr sz="2000"/>
            </a:pPr>
            <a:r>
              <a:t>(b) Deputy Director - @ Rs. 750 per month</a:t>
            </a:r>
          </a:p>
          <a:p>
            <a:pPr>
              <a:defRPr sz="2000"/>
            </a:pPr>
            <a:r>
              <a:t>(c) Assistant Director/ Research Officer/Veterinary Officer - @</a:t>
            </a:r>
          </a:p>
          <a:p>
            <a:pPr>
              <a:defRPr sz="2000"/>
            </a:pPr>
            <a:r>
              <a:t>Rs. 650 per month</a:t>
            </a:r>
          </a:p>
          <a:p>
            <a:pPr>
              <a:defRPr sz="2000"/>
            </a:pPr>
            <a:r>
              <a:t>(d) Forest Ranger - @ Rs. 500 per month</a:t>
            </a:r>
          </a:p>
          <a:p>
            <a:pPr>
              <a:defRPr sz="2000"/>
            </a:pPr>
            <a:r>
              <a:t>(e) Forester - @ Rs. 450 per month</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Project Allowance for Staff (cont.)</a:t>
            </a:r>
          </a:p>
        </p:txBody>
      </p:sp>
      <p:sp>
        <p:nvSpPr>
          <p:cNvPr id="3" name="Content Placeholder 2"/>
          <p:cNvSpPr>
            <a:spLocks noGrp="1"/>
          </p:cNvSpPr>
          <p:nvPr>
            <p:ph idx="1"/>
          </p:nvPr>
        </p:nvSpPr>
        <p:spPr/>
        <p:txBody>
          <a:bodyPr/>
          <a:lstStyle/>
          <a:p>
            <a:pPr>
              <a:defRPr sz="2000"/>
            </a:pPr>
            <a:r>
              <a:t>(f) Forest Guard - @Rs. 350 per month</a:t>
            </a:r>
          </a:p>
          <a:p>
            <a:pPr>
              <a:defRPr sz="2000"/>
            </a:pPr>
          </a:p>
          <a:p>
            <a:pPr>
              <a:defRPr sz="2000"/>
            </a:pPr>
            <a:r>
              <a:t>Extending allowance to ministerial staff:</a:t>
            </a:r>
          </a:p>
          <a:p>
            <a:pPr>
              <a:defRPr sz="2000"/>
            </a:pPr>
            <a:r>
              <a:t>Class II - Rs 500</a:t>
            </a:r>
          </a:p>
          <a:p>
            <a:pPr>
              <a:defRPr sz="2000"/>
            </a:pPr>
            <a:r>
              <a:t>Class III - Rs 350</a:t>
            </a:r>
          </a:p>
          <a:p>
            <a:pPr>
              <a:defRPr sz="2000"/>
            </a:pPr>
            <a:r>
              <a:t>Class IV - Rs 200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Staff Welfare Activities</a:t>
            </a:r>
          </a:p>
        </p:txBody>
      </p:sp>
      <p:sp>
        <p:nvSpPr>
          <p:cNvPr id="3" name="Content Placeholder 2"/>
          <p:cNvSpPr>
            <a:spLocks noGrp="1"/>
          </p:cNvSpPr>
          <p:nvPr>
            <p:ph idx="1"/>
          </p:nvPr>
        </p:nvSpPr>
        <p:spPr/>
        <p:txBody>
          <a:bodyPr/>
          <a:lstStyle/>
          <a:p>
            <a:pPr>
              <a:defRPr sz="2000"/>
            </a:pPr>
            <a:r>
              <a:t>Field staff serve in remote and difficult areas, facing diseases</a:t>
            </a:r>
          </a:p>
          <a:p>
            <a:pPr>
              <a:defRPr sz="2000"/>
            </a:pPr>
            <a:r>
              <a:t>and risks from wild animals.</a:t>
            </a:r>
          </a:p>
          <a:p>
            <a:pPr>
              <a:defRPr sz="2000"/>
            </a:pPr>
            <a:r>
              <a:t>Postings are often ‘non-family,’ and staff bear the cost of</a:t>
            </a:r>
          </a:p>
          <a:p>
            <a:pPr>
              <a:defRPr sz="2000"/>
            </a:pPr>
            <a:r>
              <a:t>maintaining families elsewhere.</a:t>
            </a:r>
          </a:p>
          <a:p>
            <a:pPr>
              <a:defRPr sz="2000"/>
            </a:pPr>
            <a:r>
              <a:t>Frontline personnel face community resentment and physical</a:t>
            </a:r>
          </a:p>
          <a:p>
            <a:pPr>
              <a:defRPr sz="2000"/>
            </a:pPr>
            <a:r>
              <a:t>assaults.</a:t>
            </a:r>
          </a:p>
          <a:p>
            <a:pPr>
              <a:defRPr sz="2000"/>
            </a:pPr>
            <a:r>
              <a:t>Amenities for staff welfare are essential to attract and retain</a:t>
            </a:r>
          </a:p>
          <a:p>
            <a:pPr>
              <a:defRPr sz="2000"/>
            </a:pPr>
            <a:r>
              <a:t>talent.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714500"/>
            <a:ext cx="9144000" cy="51435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p:txBody>
          <a:bodyPr/>
          <a:lstStyle/>
          <a:p>
            <a:pPr>
              <a:defRPr sz="4400" b="1"/>
            </a:pPr>
            <a:r>
              <a:t>Project Tiger</a:t>
            </a:r>
          </a:p>
        </p:txBody>
      </p:sp>
      <p:sp>
        <p:nvSpPr>
          <p:cNvPr id="3" name="Subtitle 2"/>
          <p:cNvSpPr>
            <a:spLocks noGrp="1"/>
          </p:cNvSpPr>
          <p:nvPr>
            <p:ph type="subTitle" idx="1"/>
          </p:nvPr>
        </p:nvSpPr>
        <p:spPr/>
        <p:txBody>
          <a:bodyPr/>
          <a:lstStyle/>
          <a:p>
            <a:pPr>
              <a:defRPr sz="2400" i="1"/>
            </a:pPr>
            <a:r>
              <a:t>Supporting Tiger Conservation in India</a:t>
            </a:r>
          </a:p>
          <a:p>
            <a:pPr>
              <a:defRPr sz="2400" i="1"/>
            </a:pPr>
            <a:r>
              <a:t>Focusing on Eco-Tourism and Community Involvement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Staff Welfare and Support</a:t>
            </a:r>
          </a:p>
        </p:txBody>
      </p:sp>
      <p:sp>
        <p:nvSpPr>
          <p:cNvPr id="3" name="Content Placeholder 2"/>
          <p:cNvSpPr>
            <a:spLocks noGrp="1"/>
          </p:cNvSpPr>
          <p:nvPr>
            <p:ph idx="1"/>
          </p:nvPr>
        </p:nvSpPr>
        <p:spPr/>
        <p:txBody>
          <a:bodyPr/>
          <a:lstStyle/>
          <a:p>
            <a:pPr>
              <a:defRPr sz="2000"/>
            </a:pPr>
            <a:r>
              <a:t>Provide staff welfare inputs, including:</a:t>
            </a:r>
          </a:p>
          <a:p>
            <a:pPr>
              <a:defRPr sz="2000"/>
            </a:pPr>
            <a:r>
              <a:t>- Residential accommodation for children of frontline staff.</a:t>
            </a:r>
          </a:p>
          <a:p>
            <a:pPr>
              <a:defRPr sz="2000"/>
            </a:pPr>
            <a:r>
              <a:t>- Supply of kerosene, medicine, field kit, mosquito net, torch, and similar essential items.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Fostering Eco-Tourism in Tiger Reserves</a:t>
            </a:r>
          </a:p>
        </p:txBody>
      </p:sp>
      <p:sp>
        <p:nvSpPr>
          <p:cNvPr id="3" name="Content Placeholder 2"/>
          <p:cNvSpPr>
            <a:spLocks noGrp="1"/>
          </p:cNvSpPr>
          <p:nvPr>
            <p:ph idx="1"/>
          </p:nvPr>
        </p:nvSpPr>
        <p:spPr/>
        <p:txBody>
          <a:bodyPr/>
          <a:lstStyle/>
          <a:p>
            <a:pPr>
              <a:defRPr sz="2000"/>
            </a:pPr>
            <a:r>
              <a:t>Ecotourism promotes ecologically sustainable nature-tourism.</a:t>
            </a:r>
          </a:p>
          <a:p>
            <a:pPr>
              <a:defRPr sz="2000"/>
            </a:pPr>
          </a:p>
          <a:p>
            <a:pPr>
              <a:defRPr sz="2000"/>
            </a:pPr>
            <a:r>
              <a:t>Key aspects:</a:t>
            </a:r>
          </a:p>
          <a:p>
            <a:pPr>
              <a:defRPr sz="2000"/>
            </a:pPr>
            <a:r>
              <a:t>- Sustainable and equitable approach.</a:t>
            </a:r>
          </a:p>
          <a:p>
            <a:pPr>
              <a:defRPr sz="2000"/>
            </a:pPr>
            <a:r>
              <a:t>- Community-based effort to improve living standards of local communities.</a:t>
            </a:r>
          </a:p>
          <a:p>
            <a:pPr>
              <a:defRPr sz="2000"/>
            </a:pPr>
            <a:r>
              <a:t>- Financial support to host communities through soft loans from Ecodevelopment Committees.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Fostering Eco-Tourism in Tiger Reserves (cont.)</a:t>
            </a:r>
          </a:p>
        </p:txBody>
      </p:sp>
      <p:sp>
        <p:nvSpPr>
          <p:cNvPr id="3" name="Content Placeholder 2"/>
          <p:cNvSpPr>
            <a:spLocks noGrp="1"/>
          </p:cNvSpPr>
          <p:nvPr>
            <p:ph idx="1"/>
          </p:nvPr>
        </p:nvSpPr>
        <p:spPr/>
        <p:txBody>
          <a:bodyPr/>
          <a:lstStyle/>
          <a:p>
            <a:pPr>
              <a:defRPr sz="2000"/>
            </a:pPr>
            <a:r>
              <a:t>- Site-specific Ecotourism Plan and carrying capacity considerations.</a:t>
            </a:r>
          </a:p>
          <a:p>
            <a:pPr>
              <a:defRPr sz="2000"/>
            </a:pPr>
            <a:r>
              <a:t>- Core/critical tiger habitats are excluded from tourism.</a:t>
            </a:r>
          </a:p>
          <a:p>
            <a:pPr>
              <a:defRPr sz="2000"/>
            </a:pPr>
            <a:r>
              <a:t>- Phase out tourism in fringe/buffer areas if affecting corridor value.</a:t>
            </a:r>
          </a:p>
          <a:p>
            <a:pPr>
              <a:defRPr sz="2000"/>
            </a:pPr>
            <a:r>
              <a:t>- Opportunities for stakeholders: low-cost accommodation, guide services, sale outlets, excursions, ethnic dances.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Memorandum of Understanding (MoU)</a:t>
            </a:r>
          </a:p>
        </p:txBody>
      </p:sp>
      <p:sp>
        <p:nvSpPr>
          <p:cNvPr id="3" name="Content Placeholder 2"/>
          <p:cNvSpPr>
            <a:spLocks noGrp="1"/>
          </p:cNvSpPr>
          <p:nvPr>
            <p:ph idx="1"/>
          </p:nvPr>
        </p:nvSpPr>
        <p:spPr/>
        <p:txBody>
          <a:bodyPr/>
          <a:lstStyle/>
          <a:p>
            <a:pPr>
              <a:defRPr sz="2000"/>
            </a:pPr>
            <a:r>
              <a:t>Tiger Reserve States are required to enter into a Memorandum of Understanding (MoU) with the Ministry of Environment and Forests (MoEF).</a:t>
            </a:r>
          </a:p>
          <a:p>
            <a:pPr>
              <a:defRPr sz="2000"/>
            </a:pPr>
          </a:p>
          <a:p>
            <a:pPr>
              <a:defRPr sz="2000"/>
            </a:pPr>
            <a:r>
              <a:t>This MoU outlines the terms and conditions for financial assistance and project implementation.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Funding Support and Conservation Plan</a:t>
            </a:r>
          </a:p>
        </p:txBody>
      </p:sp>
      <p:sp>
        <p:nvSpPr>
          <p:cNvPr id="3" name="Content Placeholder 2"/>
          <p:cNvSpPr>
            <a:spLocks noGrp="1"/>
          </p:cNvSpPr>
          <p:nvPr>
            <p:ph idx="1"/>
          </p:nvPr>
        </p:nvSpPr>
        <p:spPr/>
        <p:txBody>
          <a:bodyPr/>
          <a:lstStyle/>
          <a:p>
            <a:pPr>
              <a:defRPr sz="2000"/>
            </a:pPr>
            <a:r>
              <a:t>Tiger Reserves receive funding support under the ongoing Centrally sponsored Scheme of Project Tiger.</a:t>
            </a:r>
          </a:p>
          <a:p>
            <a:pPr>
              <a:defRPr sz="2000"/>
            </a:pPr>
          </a:p>
          <a:p>
            <a:pPr>
              <a:defRPr sz="2000"/>
            </a:pPr>
            <a:r>
              <a:t>Funding is based on a reserve-specific Tiger Conservation Plan as required under Section 38-V of the Wildlife (Protection) Act, 1972, as amended in 2006.</a:t>
            </a:r>
          </a:p>
          <a:p>
            <a:pPr>
              <a:defRPr sz="2000"/>
            </a:pPr>
            <a:r>
              <a:t>The plan should align with guidelines issued by the National Tiger Conservation Authority (NTCA).</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Role of Panchayati Raj Institutions</a:t>
            </a:r>
          </a:p>
        </p:txBody>
      </p:sp>
      <p:sp>
        <p:nvSpPr>
          <p:cNvPr id="3" name="Content Placeholder 2"/>
          <p:cNvSpPr>
            <a:spLocks noGrp="1"/>
          </p:cNvSpPr>
          <p:nvPr>
            <p:ph idx="1"/>
          </p:nvPr>
        </p:nvSpPr>
        <p:spPr/>
        <p:txBody>
          <a:bodyPr/>
          <a:lstStyle/>
          <a:p>
            <a:pPr>
              <a:defRPr sz="2000"/>
            </a:pPr>
            <a:r>
              <a:t>Ensure the centrality of Panchayati Raj Institutions through consultation.</a:t>
            </a:r>
          </a:p>
          <a:p>
            <a:pPr>
              <a:defRPr sz="2000"/>
            </a:pPr>
          </a:p>
          <a:p>
            <a:pPr>
              <a:defRPr sz="2000"/>
            </a:pPr>
            <a:r>
              <a:t>Key areas of involvement:</a:t>
            </a:r>
          </a:p>
          <a:p>
            <a:pPr>
              <a:defRPr sz="2000"/>
            </a:pPr>
            <a:r>
              <a:t>- Deployment of local workforce.</a:t>
            </a:r>
          </a:p>
          <a:p>
            <a:pPr>
              <a:defRPr sz="2000"/>
            </a:pPr>
            <a:r>
              <a:t>- Addressing man-animal conflicts.</a:t>
            </a:r>
          </a:p>
          <a:p>
            <a:pPr>
              <a:defRPr sz="2000"/>
            </a:pPr>
            <a:r>
              <a:t>- Identifying livelihood options.</a:t>
            </a:r>
          </a:p>
          <a:p>
            <a:pPr>
              <a:defRPr sz="2000"/>
            </a:pPr>
            <a:r>
              <a:t>- Village relocation strategies.</a:t>
            </a:r>
          </a:p>
          <a:p>
            <a:pPr>
              <a:defRPr sz="2000"/>
            </a:pPr>
            <a:r>
              <a:t>- Development of eco-tourism initiatives.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00" cy="3429000"/>
          </a:xfrm>
          <a:prstGeom prst="rect">
            <a:avLst/>
          </a:prstGeom>
          <a:solidFill>
            <a:srgbClr val="FF44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000" b="1"/>
            </a:pPr>
            <a:r>
              <a:t>Annexure-I: MoU Details</a:t>
            </a:r>
          </a:p>
        </p:txBody>
      </p:sp>
      <p:sp>
        <p:nvSpPr>
          <p:cNvPr id="3" name="Text Placeholder 2"/>
          <p:cNvSpPr>
            <a:spLocks noGrp="1"/>
          </p:cNvSpPr>
          <p:nvPr>
            <p:ph type="body" idx="1"/>
          </p:nvPr>
        </p:nvSpPr>
        <p:spPr/>
        <p:txBody>
          <a:bodyPr/>
          <a:lstStyle/>
          <a:p>
            <a:pPr>
              <a:defRPr sz="2200"/>
            </a:pPr>
            <a:r>
              <a:t>Memorandum of Understanding</a:t>
            </a:r>
          </a:p>
          <a:p>
            <a:pPr>
              <a:defRPr sz="2200"/>
            </a:pPr>
            <a:r>
              <a:t>between National Tiger Conservation Authority and Government.</a:t>
            </a:r>
          </a:p>
          <a:p>
            <a:pPr>
              <a:defRPr sz="2200"/>
            </a:pPr>
            <a:r>
              <a:t>Outlining key aspects of financial assistance, conservation efforts, and responsibilities of both parties for effective tiger reserve management.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State Government Agreements (Article I)</a:t>
            </a:r>
          </a:p>
        </p:txBody>
      </p:sp>
      <p:sp>
        <p:nvSpPr>
          <p:cNvPr id="3" name="Content Placeholder 2"/>
          <p:cNvSpPr>
            <a:spLocks noGrp="1"/>
          </p:cNvSpPr>
          <p:nvPr>
            <p:ph idx="1"/>
          </p:nvPr>
        </p:nvSpPr>
        <p:spPr/>
        <p:txBody>
          <a:bodyPr/>
          <a:lstStyle/>
          <a:p>
            <a:pPr>
              <a:defRPr sz="2000"/>
            </a:pPr>
            <a:r>
              <a:t>The State Government agrees to:</a:t>
            </a:r>
          </a:p>
          <a:p>
            <a:pPr>
              <a:defRPr sz="2000"/>
            </a:pPr>
          </a:p>
          <a:p>
            <a:pPr>
              <a:defRPr sz="2000"/>
            </a:pPr>
            <a:r>
              <a:t>(a) Delineate the buffer zone and prepare a Tiger Reserve specific Tiger Conservation Plan.</a:t>
            </a:r>
          </a:p>
          <a:p>
            <a:pPr>
              <a:defRPr sz="2000"/>
            </a:pPr>
            <a:r>
              <a:t>(b) Fill staff vacancies for effective implementation and field protection.</a:t>
            </a:r>
          </a:p>
          <a:p>
            <a:pPr>
              <a:defRPr sz="2000"/>
            </a:pPr>
            <a:r>
              <a:t>(c) Utilize funds for proposed works immediately, complying with NTCA guidelines.</a:t>
            </a:r>
          </a:p>
          <a:p>
            <a:pPr>
              <a:defRPr sz="2000"/>
            </a:pPr>
            <a:r>
              <a:t>(d) Ensure cost estimates are based on approved PWD rates.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State Government Agreements (Article I) (cont.)</a:t>
            </a:r>
          </a:p>
        </p:txBody>
      </p:sp>
      <p:sp>
        <p:nvSpPr>
          <p:cNvPr id="3" name="Content Placeholder 2"/>
          <p:cNvSpPr>
            <a:spLocks noGrp="1"/>
          </p:cNvSpPr>
          <p:nvPr>
            <p:ph idx="1"/>
          </p:nvPr>
        </p:nvSpPr>
        <p:spPr/>
        <p:txBody>
          <a:bodyPr/>
          <a:lstStyle/>
          <a:p>
            <a:pPr>
              <a:defRPr sz="2000"/>
            </a:pPr>
            <a:r>
              <a:t>(e) Empower the Director/Officer In-charge to spend funds as per NTCA norms.</a:t>
            </a:r>
          </a:p>
          <a:p>
            <a:pPr>
              <a:defRPr sz="2000"/>
            </a:pPr>
            <a:r>
              <a:t>(f) Reference the Tiger Conservation Plan in the APO.</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State Government Responsibilities (Continued)</a:t>
            </a:r>
          </a:p>
        </p:txBody>
      </p:sp>
      <p:sp>
        <p:nvSpPr>
          <p:cNvPr id="3" name="Content Placeholder 2"/>
          <p:cNvSpPr>
            <a:spLocks noGrp="1"/>
          </p:cNvSpPr>
          <p:nvPr>
            <p:ph idx="1"/>
          </p:nvPr>
        </p:nvSpPr>
        <p:spPr/>
        <p:txBody>
          <a:bodyPr/>
          <a:lstStyle/>
          <a:p>
            <a:pPr>
              <a:defRPr sz="2000"/>
            </a:pPr>
            <a:r>
              <a:t>(g) Indicate location, physical target, financial target, and unit rate on a map.</a:t>
            </a:r>
          </a:p>
          <a:p>
            <a:pPr>
              <a:defRPr sz="2000"/>
            </a:pPr>
            <a:r>
              <a:t>(h) Provide progress reports indicating physical achievement and objectives fulfilled.</a:t>
            </a:r>
          </a:p>
          <a:p>
            <a:pPr>
              <a:defRPr sz="2000"/>
            </a:pPr>
            <a:r>
              <a:t>(i) Maintain a year-wise photo catalogue of physical targets for verification.</a:t>
            </a:r>
          </a:p>
          <a:p>
            <a:pPr>
              <a:defRPr sz="2000"/>
            </a:pPr>
            <a:r>
              <a:t>(j) Display estimate details and man-days involved at the work site.</a:t>
            </a:r>
          </a:p>
          <a:p>
            <a:pPr>
              <a:defRPr sz="2000"/>
            </a:pPr>
            <a:r>
              <a:t>(k) Furnish Utilisation Certificates annually.</a:t>
            </a:r>
          </a:p>
          <a:p>
            <a:pPr>
              <a:defRPr sz="2000"/>
            </a:pPr>
            <a:r>
              <a:t>(l) Maintain accounts as per audit requirements, open to inspection by NTCA/Audit.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State Government Responsibilities (Continued) (cont.)</a:t>
            </a:r>
          </a:p>
        </p:txBody>
      </p:sp>
      <p:sp>
        <p:nvSpPr>
          <p:cNvPr id="3" name="Content Placeholder 2"/>
          <p:cNvSpPr>
            <a:spLocks noGrp="1"/>
          </p:cNvSpPr>
          <p:nvPr>
            <p:ph idx="1"/>
          </p:nvPr>
        </p:nvSpPr>
        <p:spPr/>
        <p:txBody>
          <a:bodyPr/>
          <a:lstStyle/>
          <a:p>
            <a:pPr>
              <a:defRPr sz="2000"/>
            </a:pPr>
            <a:r>
              <a:t>(m) Ensure annual audits by the State Government.</a:t>
            </a:r>
          </a:p>
          <a:p>
            <a:pPr>
              <a:defRPr sz="2000"/>
            </a:pPr>
            <a:r>
              <a:t>(n) Use funds only for sanctioned purposes.</a:t>
            </a:r>
          </a:p>
          <a:p>
            <a:pPr>
              <a:defRPr sz="2000"/>
            </a:pPr>
            <a:r>
              <a:t>(o) Make records of all assets available for audit scrutiny.</a:t>
            </a:r>
          </a:p>
          <a:p>
            <a:pPr>
              <a:defRPr sz="2000"/>
            </a:pPr>
            <a:r>
              <a:t>(p) Furnish a statement of assets created annually.</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NTCA Financial Assistance (Article II)</a:t>
            </a:r>
          </a:p>
        </p:txBody>
      </p:sp>
      <p:sp>
        <p:nvSpPr>
          <p:cNvPr id="3" name="Content Placeholder 2"/>
          <p:cNvSpPr>
            <a:spLocks noGrp="1"/>
          </p:cNvSpPr>
          <p:nvPr>
            <p:ph idx="1"/>
          </p:nvPr>
        </p:nvSpPr>
        <p:spPr/>
        <p:txBody>
          <a:bodyPr/>
          <a:lstStyle/>
          <a:p>
            <a:pPr>
              <a:defRPr sz="2000"/>
            </a:pPr>
            <a:r>
              <a:t>NTCA agrees to provide financial assistance as a grant for:</a:t>
            </a:r>
          </a:p>
          <a:p>
            <a:pPr>
              <a:defRPr sz="2000"/>
            </a:pPr>
          </a:p>
          <a:p>
            <a:pPr>
              <a:defRPr sz="2000"/>
            </a:pPr>
            <a:r>
              <a:t>[Table follows in the next slide demonstrating a potential use of Title with Table, I don't have enough data to accurately fill it out here]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Example: NTCA Financial Assistance</a:t>
            </a:r>
          </a:p>
        </p:txBody>
      </p:sp>
      <p:graphicFrame>
        <p:nvGraphicFramePr>
          <p:cNvPr id="3" name="Table 2"/>
          <p:cNvGraphicFramePr>
            <a:graphicFrameLocks noGrp="1"/>
          </p:cNvGraphicFramePr>
          <p:nvPr/>
        </p:nvGraphicFramePr>
        <p:xfrm>
          <a:off x="457200" y="1554798"/>
          <a:ext cx="8229598" cy="1170432"/>
        </p:xfrm>
        <a:graphic>
          <a:graphicData uri="http://schemas.openxmlformats.org/drawingml/2006/table">
            <a:tbl>
              <a:tblPr firstRow="1" bandRow="1">
                <a:tableStyleId>{5C22544A-7EE6-4342-B048-85BDC9FD1C3A}</a:tableStyleId>
              </a:tblPr>
              <a:tblGrid>
                <a:gridCol w="1233318"/>
                <a:gridCol w="3498140"/>
                <a:gridCol w="3498140"/>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Item of Work</a:t>
                      </a:r>
                    </a:p>
                  </a:txBody>
                  <a:tcPr marL="36576" marR="36576" marT="18288" marB="18288">
                    <a:solidFill>
                      <a:srgbClr val="2C3E50"/>
                    </a:solidFill>
                  </a:tcPr>
                </a:tc>
                <a:tc>
                  <a:txBody>
                    <a:bodyPr anchor="ctr" wrap="square"/>
                    <a:lstStyle/>
                    <a:p>
                      <a:pPr algn="ctr">
                        <a:defRPr b="1" sz="1200">
                          <a:solidFill>
                            <a:srgbClr val="FFFFFF"/>
                          </a:solidFill>
                        </a:defRPr>
                      </a:pPr>
                      <a:r>
                        <a:t>Amount (Rs. in lakhs)</a:t>
                      </a:r>
                    </a:p>
                  </a:txBody>
                  <a:tcPr marL="36576" marR="36576" marT="18288" marB="18288">
                    <a:solidFill>
                      <a:srgbClr val="2C3E50"/>
                    </a:solidFill>
                  </a:tcPr>
                </a:tc>
              </a:tr>
              <a:tr h="283464">
                <a:tc>
                  <a:txBody>
                    <a:bodyPr anchor="ctr" wrap="square"/>
                    <a:lstStyle/>
                    <a:p>
                      <a:pPr algn="l">
                        <a:defRPr sz="1100">
                          <a:solidFill>
                            <a:srgbClr val="323232"/>
                          </a:solidFill>
                        </a:defRPr>
                      </a:pPr>
                      <a:r>
                        <a:t>1</a:t>
                      </a:r>
                    </a:p>
                  </a:txBody>
                  <a:tcPr marL="36576" marR="36576" marT="18288" marB="18288"/>
                </a:tc>
                <a:tc>
                  <a:txBody>
                    <a:bodyPr anchor="ctr" wrap="square"/>
                    <a:lstStyle/>
                    <a:p>
                      <a:pPr algn="l">
                        <a:defRPr sz="1100">
                          <a:solidFill>
                            <a:srgbClr val="323232"/>
                          </a:solidFill>
                        </a:defRPr>
                      </a:pPr>
                      <a:r>
                        <a:t>Habitat Improvement</a:t>
                      </a:r>
                    </a:p>
                  </a:txBody>
                  <a:tcPr marL="36576" marR="36576" marT="18288" marB="18288"/>
                </a:tc>
                <a:tc>
                  <a:txBody>
                    <a:bodyPr anchor="ctr" wrap="square"/>
                    <a:lstStyle/>
                    <a:p>
                      <a:pPr algn="l">
                        <a:defRPr sz="1100">
                          <a:solidFill>
                            <a:srgbClr val="323232"/>
                          </a:solidFill>
                        </a:defRPr>
                      </a:pPr>
                      <a:r>
                        <a:t>50</a:t>
                      </a:r>
                    </a:p>
                  </a:txBody>
                  <a:tcPr marL="36576" marR="36576" marT="18288" marB="18288"/>
                </a:tc>
              </a:tr>
              <a:tr h="283464">
                <a:tc>
                  <a:txBody>
                    <a:bodyPr anchor="ctr" wrap="square"/>
                    <a:lstStyle/>
                    <a:p>
                      <a:pPr algn="l">
                        <a:defRPr sz="1100">
                          <a:solidFill>
                            <a:srgbClr val="323232"/>
                          </a:solidFill>
                        </a:defRPr>
                      </a:pPr>
                      <a:r>
                        <a:t>2</a:t>
                      </a:r>
                    </a:p>
                  </a:txBody>
                  <a:tcPr marL="36576" marR="36576" marT="18288" marB="18288"/>
                </a:tc>
                <a:tc>
                  <a:txBody>
                    <a:bodyPr anchor="ctr" wrap="square"/>
                    <a:lstStyle/>
                    <a:p>
                      <a:pPr algn="l">
                        <a:defRPr sz="1100">
                          <a:solidFill>
                            <a:srgbClr val="323232"/>
                          </a:solidFill>
                        </a:defRPr>
                      </a:pPr>
                      <a:r>
                        <a:t>Anti-Poaching Measures</a:t>
                      </a:r>
                    </a:p>
                  </a:txBody>
                  <a:tcPr marL="36576" marR="36576" marT="18288" marB="18288"/>
                </a:tc>
                <a:tc>
                  <a:txBody>
                    <a:bodyPr anchor="ctr" wrap="square"/>
                    <a:lstStyle/>
                    <a:p>
                      <a:pPr algn="l">
                        <a:defRPr sz="1100">
                          <a:solidFill>
                            <a:srgbClr val="323232"/>
                          </a:solidFill>
                        </a:defRPr>
                      </a:pPr>
                      <a:r>
                        <a:t>30</a:t>
                      </a:r>
                    </a:p>
                  </a:txBody>
                  <a:tcPr marL="36576" marR="36576" marT="18288" marB="18288"/>
                </a:tc>
              </a:tr>
              <a:tr h="283464">
                <a:tc>
                  <a:txBody>
                    <a:bodyPr anchor="ctr" wrap="square"/>
                    <a:lstStyle/>
                    <a:p>
                      <a:pPr algn="l">
                        <a:defRPr sz="1100">
                          <a:solidFill>
                            <a:srgbClr val="323232"/>
                          </a:solidFill>
                        </a:defRPr>
                      </a:pPr>
                      <a:r>
                        <a:t>3</a:t>
                      </a:r>
                    </a:p>
                  </a:txBody>
                  <a:tcPr marL="36576" marR="36576" marT="18288" marB="18288"/>
                </a:tc>
                <a:tc>
                  <a:txBody>
                    <a:bodyPr anchor="ctr" wrap="square"/>
                    <a:lstStyle/>
                    <a:p>
                      <a:pPr algn="l">
                        <a:defRPr sz="1100">
                          <a:solidFill>
                            <a:srgbClr val="323232"/>
                          </a:solidFill>
                        </a:defRPr>
                      </a:pPr>
                      <a:r>
                        <a:t>Community Development</a:t>
                      </a:r>
                    </a:p>
                  </a:txBody>
                  <a:tcPr marL="36576" marR="36576" marT="18288" marB="18288"/>
                </a:tc>
                <a:tc>
                  <a:txBody>
                    <a:bodyPr anchor="ctr" wrap="square"/>
                    <a:lstStyle/>
                    <a:p>
                      <a:pPr algn="l">
                        <a:defRPr sz="1100">
                          <a:solidFill>
                            <a:srgbClr val="323232"/>
                          </a:solidFill>
                        </a:defRPr>
                      </a:pPr>
                      <a:r>
                        <a:t>20</a:t>
                      </a:r>
                    </a:p>
                  </a:txBody>
                  <a:tcPr marL="36576" marR="36576" marT="18288" marB="18288"/>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Rectangle 2"/>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4400" b="1"/>
            </a:pPr>
            <a:r>
              <a:t>ARTICLE III</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9144000" cy="6858000"/>
          </a:xfrm>
          <a:prstGeom prst="rect">
            <a:avLst/>
          </a:prstGeom>
          <a:solidFill>
            <a:srgbClr val="EAEF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172200"/>
            <a:ext cx="9144000" cy="685800"/>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p:txBody>
          <a:bodyPr/>
          <a:lstStyle/>
          <a:p>
            <a:pPr>
              <a:defRPr sz="3600" b="1"/>
            </a:pPr>
            <a:r>
              <a:t>Agreement Terms</a:t>
            </a:r>
          </a:p>
        </p:txBody>
      </p:sp>
      <p:sp>
        <p:nvSpPr>
          <p:cNvPr id="3" name="Content Placeholder 2"/>
          <p:cNvSpPr>
            <a:spLocks noGrp="1"/>
          </p:cNvSpPr>
          <p:nvPr>
            <p:ph idx="1"/>
          </p:nvPr>
        </p:nvSpPr>
        <p:spPr/>
        <p:txBody>
          <a:bodyPr/>
          <a:lstStyle/>
          <a:p>
            <a:pPr>
              <a:defRPr sz="2000"/>
            </a:pPr>
            <a:r>
              <a:t>If there is any delay in execution of the work, the State Govt. shall notify the National Tiger Conservation Authority in writing giving the reason for delay.</a:t>
            </a:r>
          </a:p>
          <a:p>
            <a:pPr>
              <a:defRPr sz="2000"/>
            </a:pPr>
            <a:r>
              <a:t>If the NTCA feels that work is not progressing according to the work plan, it shall be at liberty to withhold the financial assistance or withdraw the financial assistance already granted.</a:t>
            </a:r>
          </a:p>
          <a:p>
            <a:pPr>
              <a:defRPr sz="2000"/>
            </a:pPr>
            <a:r>
              <a:t>The unspent amount of grant as on the date of communication of the decision of the withdrawal of financial assistance by the NTCA shall be immediately returned to NTCA.</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EFC Annexure-II (Rs. in crores) (1/4)</a:t>
            </a:r>
          </a:p>
        </p:txBody>
      </p:sp>
      <p:graphicFrame>
        <p:nvGraphicFramePr>
          <p:cNvPr id="3" name="Table 2"/>
          <p:cNvGraphicFramePr>
            <a:graphicFrameLocks noGrp="1"/>
          </p:cNvGraphicFramePr>
          <p:nvPr/>
        </p:nvGraphicFramePr>
        <p:xfrm>
          <a:off x="457200" y="1554798"/>
          <a:ext cx="8229599" cy="3401568"/>
        </p:xfrm>
        <a:graphic>
          <a:graphicData uri="http://schemas.openxmlformats.org/drawingml/2006/table">
            <a:tbl>
              <a:tblPr firstRow="1" bandRow="1">
                <a:tableStyleId>{5C22544A-7EE6-4342-B048-85BDC9FD1C3A}</a:tableStyleId>
              </a:tblPr>
              <a:tblGrid>
                <a:gridCol w="729205"/>
                <a:gridCol w="3125164"/>
                <a:gridCol w="729205"/>
                <a:gridCol w="729205"/>
                <a:gridCol w="729205"/>
                <a:gridCol w="729205"/>
                <a:gridCol w="729205"/>
                <a:gridCol w="729205"/>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Name of Activities</a:t>
                      </a:r>
                    </a:p>
                  </a:txBody>
                  <a:tcPr marL="36576" marR="36576" marT="18288" marB="18288">
                    <a:solidFill>
                      <a:srgbClr val="2C3E50"/>
                    </a:solidFill>
                  </a:tcPr>
                </a:tc>
                <a:tc>
                  <a:txBody>
                    <a:bodyPr anchor="ctr" wrap="square"/>
                    <a:lstStyle/>
                    <a:p>
                      <a:pPr algn="ctr">
                        <a:defRPr b="1" sz="1200">
                          <a:solidFill>
                            <a:srgbClr val="FFFFFF"/>
                          </a:solidFill>
                        </a:defRPr>
                      </a:pPr>
                      <a:r>
                        <a:t>2007-08</a:t>
                      </a:r>
                    </a:p>
                  </a:txBody>
                  <a:tcPr marL="36576" marR="36576" marT="18288" marB="18288">
                    <a:solidFill>
                      <a:srgbClr val="2C3E50"/>
                    </a:solidFill>
                  </a:tcPr>
                </a:tc>
                <a:tc>
                  <a:txBody>
                    <a:bodyPr anchor="ctr" wrap="square"/>
                    <a:lstStyle/>
                    <a:p>
                      <a:pPr algn="ctr">
                        <a:defRPr b="1" sz="1200">
                          <a:solidFill>
                            <a:srgbClr val="FFFFFF"/>
                          </a:solidFill>
                        </a:defRPr>
                      </a:pPr>
                      <a:r>
                        <a:t>2008-09</a:t>
                      </a:r>
                    </a:p>
                  </a:txBody>
                  <a:tcPr marL="36576" marR="36576" marT="18288" marB="18288">
                    <a:solidFill>
                      <a:srgbClr val="2C3E50"/>
                    </a:solidFill>
                  </a:tcPr>
                </a:tc>
                <a:tc>
                  <a:txBody>
                    <a:bodyPr anchor="ctr" wrap="square"/>
                    <a:lstStyle/>
                    <a:p>
                      <a:pPr algn="ctr">
                        <a:defRPr b="1" sz="1200">
                          <a:solidFill>
                            <a:srgbClr val="FFFFFF"/>
                          </a:solidFill>
                        </a:defRPr>
                      </a:pPr>
                      <a:r>
                        <a:t>2009-10</a:t>
                      </a:r>
                    </a:p>
                  </a:txBody>
                  <a:tcPr marL="36576" marR="36576" marT="18288" marB="18288">
                    <a:solidFill>
                      <a:srgbClr val="2C3E50"/>
                    </a:solidFill>
                  </a:tcPr>
                </a:tc>
                <a:tc>
                  <a:txBody>
                    <a:bodyPr anchor="ctr" wrap="square"/>
                    <a:lstStyle/>
                    <a:p>
                      <a:pPr algn="ctr">
                        <a:defRPr b="1" sz="1200">
                          <a:solidFill>
                            <a:srgbClr val="FFFFFF"/>
                          </a:solidFill>
                        </a:defRPr>
                      </a:pPr>
                      <a:r>
                        <a:t>2010-11</a:t>
                      </a:r>
                    </a:p>
                  </a:txBody>
                  <a:tcPr marL="36576" marR="36576" marT="18288" marB="18288">
                    <a:solidFill>
                      <a:srgbClr val="2C3E50"/>
                    </a:solidFill>
                  </a:tcPr>
                </a:tc>
                <a:tc>
                  <a:txBody>
                    <a:bodyPr anchor="ctr" wrap="square"/>
                    <a:lstStyle/>
                    <a:p>
                      <a:pPr algn="ctr">
                        <a:defRPr b="1" sz="1200">
                          <a:solidFill>
                            <a:srgbClr val="FFFFFF"/>
                          </a:solidFill>
                        </a:defRPr>
                      </a:pPr>
                      <a:r>
                        <a:t>2011-12</a:t>
                      </a:r>
                    </a:p>
                  </a:txBody>
                  <a:tcPr marL="36576" marR="36576" marT="18288" marB="18288">
                    <a:solidFill>
                      <a:srgbClr val="2C3E50"/>
                    </a:solidFill>
                  </a:tcPr>
                </a:tc>
                <a:tc>
                  <a:txBody>
                    <a:bodyPr anchor="ctr" wrap="square"/>
                    <a:lstStyle/>
                    <a:p>
                      <a:pPr algn="ctr">
                        <a:defRPr b="1" sz="1200">
                          <a:solidFill>
                            <a:srgbClr val="FFFFFF"/>
                          </a:solidFill>
                        </a:defRPr>
                      </a:pPr>
                      <a:r>
                        <a:t>Total</a:t>
                      </a:r>
                    </a:p>
                  </a:txBody>
                  <a:tcPr marL="36576" marR="36576" marT="18288" marB="18288">
                    <a:solidFill>
                      <a:srgbClr val="2C3E50"/>
                    </a:solidFill>
                  </a:tcPr>
                </a:tc>
              </a:tr>
              <a:tr h="283464">
                <a:tc>
                  <a:txBody>
                    <a:bodyPr anchor="ctr" wrap="square"/>
                    <a:lstStyle/>
                    <a:p>
                      <a:pPr algn="l">
                        <a:defRPr sz="1100">
                          <a:solidFill>
                            <a:srgbClr val="323232"/>
                          </a:solidFill>
                        </a:defRPr>
                      </a:pPr>
                      <a:r>
                        <a:t>1</a:t>
                      </a:r>
                    </a:p>
                  </a:txBody>
                  <a:tcPr marL="36576" marR="36576" marT="18288" marB="18288"/>
                </a:tc>
                <a:tc>
                  <a:txBody>
                    <a:bodyPr anchor="ctr" wrap="square"/>
                    <a:lstStyle/>
                    <a:p>
                      <a:pPr algn="l">
                        <a:defRPr sz="1100">
                          <a:solidFill>
                            <a:srgbClr val="323232"/>
                          </a:solidFill>
                        </a:defRPr>
                      </a:pPr>
                      <a:r>
                        <a:t>Anti-poaching</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c>
                  <a:txBody>
                    <a:bodyPr anchor="ctr" wrap="square"/>
                    <a:lstStyle/>
                    <a:p>
                      <a:pPr algn="l">
                        <a:defRPr sz="1100">
                          <a:solidFill>
                            <a:srgbClr val="323232"/>
                          </a:solidFill>
                        </a:defRPr>
                      </a:pPr>
                      <a:r>
                        <a:t>25.00</a:t>
                      </a:r>
                    </a:p>
                  </a:txBody>
                  <a:tcPr marL="36576" marR="36576" marT="18288" marB="18288"/>
                </a:tc>
              </a:tr>
              <a:tr h="640080">
                <a:tc>
                  <a:txBody>
                    <a:bodyPr anchor="ctr" wrap="square"/>
                    <a:lstStyle/>
                    <a:p>
                      <a:pPr algn="l">
                        <a:defRPr sz="1100">
                          <a:solidFill>
                            <a:srgbClr val="323232"/>
                          </a:solidFill>
                        </a:defRPr>
                      </a:pPr>
                      <a:r>
                        <a:t>2</a:t>
                      </a:r>
                    </a:p>
                  </a:txBody>
                  <a:tcPr marL="36576" marR="36576" marT="18288" marB="18288"/>
                </a:tc>
                <a:tc>
                  <a:txBody>
                    <a:bodyPr anchor="ctr" wrap="square"/>
                    <a:lstStyle/>
                    <a:p>
                      <a:pPr algn="l">
                        <a:defRPr sz="1100">
                          <a:solidFill>
                            <a:srgbClr val="323232"/>
                          </a:solidFill>
                        </a:defRPr>
                      </a:pPr>
                      <a:r>
                        <a:t>Strengthening of</a:t>
                      </a:r>
                    </a:p>
                    <a:p>
                      <a:pPr algn="l">
                        <a:defRPr sz="1100">
                          <a:solidFill>
                            <a:srgbClr val="323232"/>
                          </a:solidFill>
                        </a:defRPr>
                      </a:pPr>
                      <a:r>
                        <a:t>infrastructure within</a:t>
                      </a:r>
                    </a:p>
                    <a:p>
                      <a:pPr algn="l">
                        <a:defRPr sz="1100">
                          <a:solidFill>
                            <a:srgbClr val="323232"/>
                          </a:solidFill>
                        </a:defRPr>
                      </a:pPr>
                      <a:r>
                        <a:t>Tiger Reserves (including</a:t>
                      </a:r>
                    </a:p>
                    <a:p>
                      <a:pPr algn="l">
                        <a:defRPr sz="1100">
                          <a:solidFill>
                            <a:srgbClr val="323232"/>
                          </a:solidFill>
                        </a:defRPr>
                      </a:pPr>
                      <a:r>
                        <a:t>new Tiger Reserves)</a:t>
                      </a:r>
                    </a:p>
                  </a:txBody>
                  <a:tcPr marL="36576" marR="36576" marT="18288" marB="18288"/>
                </a:tc>
                <a:tc>
                  <a:txBody>
                    <a:bodyPr anchor="ctr" wrap="square"/>
                    <a:lstStyle/>
                    <a:p>
                      <a:pPr algn="l">
                        <a:defRPr sz="1100">
                          <a:solidFill>
                            <a:srgbClr val="323232"/>
                          </a:solidFill>
                        </a:defRPr>
                      </a:pPr>
                      <a:r>
                        <a:t>11.00</a:t>
                      </a:r>
                    </a:p>
                  </a:txBody>
                  <a:tcPr marL="36576" marR="36576" marT="18288" marB="18288"/>
                </a:tc>
                <a:tc>
                  <a:txBody>
                    <a:bodyPr anchor="ctr" wrap="square"/>
                    <a:lstStyle/>
                    <a:p>
                      <a:pPr algn="l">
                        <a:defRPr sz="1100">
                          <a:solidFill>
                            <a:srgbClr val="323232"/>
                          </a:solidFill>
                        </a:defRPr>
                      </a:pPr>
                      <a:r>
                        <a:t>10.00</a:t>
                      </a:r>
                    </a:p>
                  </a:txBody>
                  <a:tcPr marL="36576" marR="36576" marT="18288" marB="18288"/>
                </a:tc>
                <a:tc>
                  <a:txBody>
                    <a:bodyPr anchor="ctr" wrap="square"/>
                    <a:lstStyle/>
                    <a:p>
                      <a:pPr algn="l">
                        <a:defRPr sz="1100">
                          <a:solidFill>
                            <a:srgbClr val="323232"/>
                          </a:solidFill>
                        </a:defRPr>
                      </a:pPr>
                      <a:r>
                        <a:t>10.00</a:t>
                      </a:r>
                    </a:p>
                  </a:txBody>
                  <a:tcPr marL="36576" marR="36576" marT="18288" marB="18288"/>
                </a:tc>
                <a:tc>
                  <a:txBody>
                    <a:bodyPr anchor="ctr" wrap="square"/>
                    <a:lstStyle/>
                    <a:p>
                      <a:pPr algn="l">
                        <a:defRPr sz="1100">
                          <a:solidFill>
                            <a:srgbClr val="323232"/>
                          </a:solidFill>
                        </a:defRPr>
                      </a:pPr>
                      <a:r>
                        <a:t>10.00</a:t>
                      </a:r>
                    </a:p>
                  </a:txBody>
                  <a:tcPr marL="36576" marR="36576" marT="18288" marB="18288"/>
                </a:tc>
                <a:tc>
                  <a:txBody>
                    <a:bodyPr anchor="ctr" wrap="square"/>
                    <a:lstStyle/>
                    <a:p>
                      <a:pPr algn="l">
                        <a:defRPr sz="1100">
                          <a:solidFill>
                            <a:srgbClr val="323232"/>
                          </a:solidFill>
                        </a:defRPr>
                      </a:pPr>
                      <a:r>
                        <a:t>10.00</a:t>
                      </a:r>
                    </a:p>
                  </a:txBody>
                  <a:tcPr marL="36576" marR="36576" marT="18288" marB="18288"/>
                </a:tc>
                <a:tc>
                  <a:txBody>
                    <a:bodyPr anchor="ctr" wrap="square"/>
                    <a:lstStyle/>
                    <a:p>
                      <a:pPr algn="l">
                        <a:defRPr sz="1100">
                          <a:solidFill>
                            <a:srgbClr val="323232"/>
                          </a:solidFill>
                        </a:defRPr>
                      </a:pPr>
                      <a:r>
                        <a:t>51.00</a:t>
                      </a:r>
                    </a:p>
                  </a:txBody>
                  <a:tcPr marL="36576" marR="36576" marT="18288" marB="18288"/>
                </a:tc>
              </a:tr>
              <a:tr h="402336">
                <a:tc>
                  <a:txBody>
                    <a:bodyPr anchor="ctr" wrap="square"/>
                    <a:lstStyle/>
                    <a:p>
                      <a:pPr algn="l">
                        <a:defRPr sz="1100">
                          <a:solidFill>
                            <a:srgbClr val="323232"/>
                          </a:solidFill>
                        </a:defRPr>
                      </a:pPr>
                      <a:r>
                        <a:t>3</a:t>
                      </a:r>
                    </a:p>
                  </a:txBody>
                  <a:tcPr marL="36576" marR="36576" marT="18288" marB="18288"/>
                </a:tc>
                <a:tc>
                  <a:txBody>
                    <a:bodyPr anchor="ctr" wrap="square"/>
                    <a:lstStyle/>
                    <a:p>
                      <a:pPr algn="l">
                        <a:defRPr sz="1100">
                          <a:solidFill>
                            <a:srgbClr val="323232"/>
                          </a:solidFill>
                        </a:defRPr>
                      </a:pPr>
                      <a:r>
                        <a:t>Habitat improvement and</a:t>
                      </a:r>
                    </a:p>
                    <a:p>
                      <a:pPr algn="l">
                        <a:defRPr sz="1100">
                          <a:solidFill>
                            <a:srgbClr val="323232"/>
                          </a:solidFill>
                        </a:defRPr>
                      </a:pPr>
                      <a:r>
                        <a:t>water development</a:t>
                      </a:r>
                    </a:p>
                  </a:txBody>
                  <a:tcPr marL="36576" marR="36576" marT="18288" marB="18288"/>
                </a:tc>
                <a:tc>
                  <a:txBody>
                    <a:bodyPr anchor="ctr" wrap="square"/>
                    <a:lstStyle/>
                    <a:p>
                      <a:pPr algn="l">
                        <a:defRPr sz="1100">
                          <a:solidFill>
                            <a:srgbClr val="323232"/>
                          </a:solidFill>
                        </a:defRPr>
                      </a:pPr>
                      <a:r>
                        <a:t>2.00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14.00</a:t>
                      </a:r>
                    </a:p>
                  </a:txBody>
                  <a:tcPr marL="36576" marR="36576" marT="18288" marB="18288"/>
                </a:tc>
              </a:tr>
              <a:tr h="877824">
                <a:tc>
                  <a:txBody>
                    <a:bodyPr anchor="ctr" wrap="square"/>
                    <a:lstStyle/>
                    <a:p>
                      <a:pPr algn="l">
                        <a:defRPr sz="1100">
                          <a:solidFill>
                            <a:srgbClr val="323232"/>
                          </a:solidFill>
                        </a:defRPr>
                      </a:pPr>
                      <a:r>
                        <a:t>4</a:t>
                      </a:r>
                    </a:p>
                  </a:txBody>
                  <a:tcPr marL="36576" marR="36576" marT="18288" marB="18288"/>
                </a:tc>
                <a:tc>
                  <a:txBody>
                    <a:bodyPr anchor="ctr" wrap="square"/>
                    <a:lstStyle/>
                    <a:p>
                      <a:pPr algn="l">
                        <a:defRPr sz="1100">
                          <a:solidFill>
                            <a:srgbClr val="323232"/>
                          </a:solidFill>
                        </a:defRPr>
                      </a:pPr>
                      <a:r>
                        <a:t>Addressing man-animal</a:t>
                      </a:r>
                    </a:p>
                    <a:p>
                      <a:pPr algn="l">
                        <a:defRPr sz="1100">
                          <a:solidFill>
                            <a:srgbClr val="323232"/>
                          </a:solidFill>
                        </a:defRPr>
                      </a:pPr>
                      <a:r>
                        <a:t>conflict (ensuring</a:t>
                      </a:r>
                    </a:p>
                    <a:p>
                      <a:pPr algn="l">
                        <a:defRPr sz="1100">
                          <a:solidFill>
                            <a:srgbClr val="323232"/>
                          </a:solidFill>
                        </a:defRPr>
                      </a:pPr>
                      <a:r>
                        <a:t>uniform, timely</a:t>
                      </a:r>
                    </a:p>
                    <a:p>
                      <a:pPr algn="l">
                        <a:defRPr sz="1100">
                          <a:solidFill>
                            <a:srgbClr val="323232"/>
                          </a:solidFill>
                        </a:defRPr>
                      </a:pPr>
                      <a:r>
                        <a:t>compensation for human</a:t>
                      </a:r>
                    </a:p>
                    <a:p>
                      <a:pPr algn="l">
                        <a:defRPr sz="1100">
                          <a:solidFill>
                            <a:srgbClr val="323232"/>
                          </a:solidFill>
                        </a:defRPr>
                      </a:pPr>
                      <a:r>
                        <a:t>deaths due to wild</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2.00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14.00</a:t>
                      </a:r>
                    </a:p>
                  </a:txBody>
                  <a:tcPr marL="36576" marR="36576" marT="18288" marB="18288"/>
                </a:tc>
              </a:tr>
              <a:tr h="877824">
                <a:tc>
                  <a:txBody>
                    <a:bodyPr anchor="ctr" wrap="square"/>
                    <a:lstStyle/>
                    <a:p>
                      <a:pPr algn="l">
                        <a:defRPr sz="1100">
                          <a:solidFill>
                            <a:srgbClr val="323232"/>
                          </a:solidFill>
                        </a:defRPr>
                      </a:pPr>
                      <a:r>
                        <a:t>5</a:t>
                      </a:r>
                    </a:p>
                  </a:txBody>
                  <a:tcPr marL="36576" marR="36576" marT="18288" marB="18288"/>
                </a:tc>
                <a:tc>
                  <a:txBody>
                    <a:bodyPr anchor="ctr" wrap="square"/>
                    <a:lstStyle/>
                    <a:p>
                      <a:pPr algn="l">
                        <a:defRPr sz="1100">
                          <a:solidFill>
                            <a:srgbClr val="323232"/>
                          </a:solidFill>
                        </a:defRPr>
                      </a:pPr>
                      <a:r>
                        <a:t>Co-existence agenda in</a:t>
                      </a:r>
                    </a:p>
                    <a:p>
                      <a:pPr algn="l">
                        <a:defRPr sz="1100">
                          <a:solidFill>
                            <a:srgbClr val="323232"/>
                          </a:solidFill>
                        </a:defRPr>
                      </a:pPr>
                      <a:r>
                        <a:t>buffer / fringe areas</a:t>
                      </a:r>
                    </a:p>
                    <a:p>
                      <a:pPr algn="l">
                        <a:defRPr sz="1100">
                          <a:solidFill>
                            <a:srgbClr val="323232"/>
                          </a:solidFill>
                        </a:defRPr>
                      </a:pPr>
                      <a:r>
                        <a:t>(landscape</a:t>
                      </a:r>
                    </a:p>
                    <a:p>
                      <a:pPr algn="l">
                        <a:defRPr sz="1100">
                          <a:solidFill>
                            <a:srgbClr val="323232"/>
                          </a:solidFill>
                        </a:defRPr>
                      </a:pPr>
                      <a:r>
                        <a:t>approach/sectoral</a:t>
                      </a:r>
                    </a:p>
                    <a:p>
                      <a:pPr algn="l">
                        <a:defRPr sz="1100">
                          <a:solidFill>
                            <a:srgbClr val="323232"/>
                          </a:solidFill>
                        </a:defRPr>
                      </a:pPr>
                      <a:r>
                        <a:t>integration/ ecologically</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7.50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c>
                  <a:txBody>
                    <a:bodyPr anchor="ctr" wrap="square"/>
                    <a:lstStyle/>
                    <a:p>
                      <a:pPr algn="l">
                        <a:defRPr sz="1100">
                          <a:solidFill>
                            <a:srgbClr val="323232"/>
                          </a:solidFill>
                        </a:defRPr>
                      </a:pPr>
                      <a:r>
                        <a:t>55.50</a:t>
                      </a:r>
                    </a:p>
                  </a:txBody>
                  <a:tcPr marL="36576" marR="36576" marT="18288" marB="18288"/>
                </a:tc>
              </a:tr>
            </a:tbl>
          </a:graphicData>
        </a:graphic>
      </p:graphicFrame>
      <p:sp>
        <p:nvSpPr>
          <p:cNvPr id="4" name="TextBox 3"/>
          <p:cNvSpPr txBox="1"/>
          <p:nvPr/>
        </p:nvSpPr>
        <p:spPr>
          <a:xfrm>
            <a:off x="457200" y="6492240"/>
            <a:ext cx="8229600" cy="182880"/>
          </a:xfrm>
          <a:prstGeom prst="rect">
            <a:avLst/>
          </a:prstGeom>
          <a:noFill/>
        </p:spPr>
        <p:txBody>
          <a:bodyPr wrap="none">
            <a:spAutoFit/>
          </a:bodyPr>
          <a:lstStyle/>
          <a:p/>
          <a:p>
            <a:pPr algn="r">
              <a:defRPr sz="900">
                <a:solidFill>
                  <a:srgbClr val="646464"/>
                </a:solidFill>
              </a:defRPr>
            </a:pPr>
            <a:r>
              <a:t>Page 1 of 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EFC Annexure-II (Rs. in crores) (2/4)</a:t>
            </a:r>
          </a:p>
        </p:txBody>
      </p:sp>
      <p:graphicFrame>
        <p:nvGraphicFramePr>
          <p:cNvPr id="3" name="Table 2"/>
          <p:cNvGraphicFramePr>
            <a:graphicFrameLocks noGrp="1"/>
          </p:cNvGraphicFramePr>
          <p:nvPr/>
        </p:nvGraphicFramePr>
        <p:xfrm>
          <a:off x="457200" y="1554798"/>
          <a:ext cx="8229599" cy="4114800"/>
        </p:xfrm>
        <a:graphic>
          <a:graphicData uri="http://schemas.openxmlformats.org/drawingml/2006/table">
            <a:tbl>
              <a:tblPr firstRow="1" bandRow="1">
                <a:tableStyleId>{5C22544A-7EE6-4342-B048-85BDC9FD1C3A}</a:tableStyleId>
              </a:tblPr>
              <a:tblGrid>
                <a:gridCol w="729205"/>
                <a:gridCol w="3125164"/>
                <a:gridCol w="729205"/>
                <a:gridCol w="729205"/>
                <a:gridCol w="729205"/>
                <a:gridCol w="729205"/>
                <a:gridCol w="729205"/>
                <a:gridCol w="729205"/>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Name of Activities</a:t>
                      </a:r>
                    </a:p>
                  </a:txBody>
                  <a:tcPr marL="36576" marR="36576" marT="18288" marB="18288">
                    <a:solidFill>
                      <a:srgbClr val="2C3E50"/>
                    </a:solidFill>
                  </a:tcPr>
                </a:tc>
                <a:tc>
                  <a:txBody>
                    <a:bodyPr anchor="ctr" wrap="square"/>
                    <a:lstStyle/>
                    <a:p>
                      <a:pPr algn="ctr">
                        <a:defRPr b="1" sz="1200">
                          <a:solidFill>
                            <a:srgbClr val="FFFFFF"/>
                          </a:solidFill>
                        </a:defRPr>
                      </a:pPr>
                      <a:r>
                        <a:t>2007-08</a:t>
                      </a:r>
                    </a:p>
                  </a:txBody>
                  <a:tcPr marL="36576" marR="36576" marT="18288" marB="18288">
                    <a:solidFill>
                      <a:srgbClr val="2C3E50"/>
                    </a:solidFill>
                  </a:tcPr>
                </a:tc>
                <a:tc>
                  <a:txBody>
                    <a:bodyPr anchor="ctr" wrap="square"/>
                    <a:lstStyle/>
                    <a:p>
                      <a:pPr algn="ctr">
                        <a:defRPr b="1" sz="1200">
                          <a:solidFill>
                            <a:srgbClr val="FFFFFF"/>
                          </a:solidFill>
                        </a:defRPr>
                      </a:pPr>
                      <a:r>
                        <a:t>2008-09</a:t>
                      </a:r>
                    </a:p>
                  </a:txBody>
                  <a:tcPr marL="36576" marR="36576" marT="18288" marB="18288">
                    <a:solidFill>
                      <a:srgbClr val="2C3E50"/>
                    </a:solidFill>
                  </a:tcPr>
                </a:tc>
                <a:tc>
                  <a:txBody>
                    <a:bodyPr anchor="ctr" wrap="square"/>
                    <a:lstStyle/>
                    <a:p>
                      <a:pPr algn="ctr">
                        <a:defRPr b="1" sz="1200">
                          <a:solidFill>
                            <a:srgbClr val="FFFFFF"/>
                          </a:solidFill>
                        </a:defRPr>
                      </a:pPr>
                      <a:r>
                        <a:t>2009-10</a:t>
                      </a:r>
                    </a:p>
                  </a:txBody>
                  <a:tcPr marL="36576" marR="36576" marT="18288" marB="18288">
                    <a:solidFill>
                      <a:srgbClr val="2C3E50"/>
                    </a:solidFill>
                  </a:tcPr>
                </a:tc>
                <a:tc>
                  <a:txBody>
                    <a:bodyPr anchor="ctr" wrap="square"/>
                    <a:lstStyle/>
                    <a:p>
                      <a:pPr algn="ctr">
                        <a:defRPr b="1" sz="1200">
                          <a:solidFill>
                            <a:srgbClr val="FFFFFF"/>
                          </a:solidFill>
                        </a:defRPr>
                      </a:pPr>
                      <a:r>
                        <a:t>2010-11</a:t>
                      </a:r>
                    </a:p>
                  </a:txBody>
                  <a:tcPr marL="36576" marR="36576" marT="18288" marB="18288">
                    <a:solidFill>
                      <a:srgbClr val="2C3E50"/>
                    </a:solidFill>
                  </a:tcPr>
                </a:tc>
                <a:tc>
                  <a:txBody>
                    <a:bodyPr anchor="ctr" wrap="square"/>
                    <a:lstStyle/>
                    <a:p>
                      <a:pPr algn="ctr">
                        <a:defRPr b="1" sz="1200">
                          <a:solidFill>
                            <a:srgbClr val="FFFFFF"/>
                          </a:solidFill>
                        </a:defRPr>
                      </a:pPr>
                      <a:r>
                        <a:t>2011-12</a:t>
                      </a:r>
                    </a:p>
                  </a:txBody>
                  <a:tcPr marL="36576" marR="36576" marT="18288" marB="18288">
                    <a:solidFill>
                      <a:srgbClr val="2C3E50"/>
                    </a:solidFill>
                  </a:tcPr>
                </a:tc>
                <a:tc>
                  <a:txBody>
                    <a:bodyPr anchor="ctr" wrap="square"/>
                    <a:lstStyle/>
                    <a:p>
                      <a:pPr algn="ctr">
                        <a:defRPr b="1" sz="1200">
                          <a:solidFill>
                            <a:srgbClr val="FFFFFF"/>
                          </a:solidFill>
                        </a:defRPr>
                      </a:pPr>
                      <a:r>
                        <a:t>Total</a:t>
                      </a:r>
                    </a:p>
                  </a:txBody>
                  <a:tcPr marL="36576" marR="36576" marT="18288" marB="18288">
                    <a:solidFill>
                      <a:srgbClr val="2C3E50"/>
                    </a:solidFill>
                  </a:tcPr>
                </a:tc>
              </a:tr>
              <a:tr h="758952">
                <a:tc>
                  <a:txBody>
                    <a:bodyPr anchor="ctr" wrap="square"/>
                    <a:lstStyle/>
                    <a:p>
                      <a:pPr algn="l">
                        <a:defRPr sz="1100">
                          <a:solidFill>
                            <a:srgbClr val="323232"/>
                          </a:solidFill>
                        </a:defRPr>
                      </a:pPr>
                      <a:r>
                        <a:t>6</a:t>
                      </a:r>
                    </a:p>
                  </a:txBody>
                  <a:tcPr marL="36576" marR="36576" marT="18288" marB="18288"/>
                </a:tc>
                <a:tc>
                  <a:txBody>
                    <a:bodyPr anchor="ctr" wrap="square"/>
                    <a:lstStyle/>
                    <a:p>
                      <a:pPr algn="l">
                        <a:defRPr sz="1100">
                          <a:solidFill>
                            <a:srgbClr val="323232"/>
                          </a:solidFill>
                        </a:defRPr>
                      </a:pPr>
                      <a:r>
                        <a:t>Rehabilitation /</a:t>
                      </a:r>
                    </a:p>
                    <a:p>
                      <a:pPr algn="l">
                        <a:defRPr sz="1100">
                          <a:solidFill>
                            <a:srgbClr val="323232"/>
                          </a:solidFill>
                        </a:defRPr>
                      </a:pPr>
                      <a:r>
                        <a:t>resettlement of</a:t>
                      </a:r>
                    </a:p>
                    <a:p>
                      <a:pPr algn="l">
                        <a:defRPr sz="1100">
                          <a:solidFill>
                            <a:srgbClr val="323232"/>
                          </a:solidFill>
                        </a:defRPr>
                      </a:pPr>
                      <a:r>
                        <a:t>denotified tribes /</a:t>
                      </a:r>
                    </a:p>
                    <a:p>
                      <a:pPr algn="l">
                        <a:defRPr sz="1100">
                          <a:solidFill>
                            <a:srgbClr val="323232"/>
                          </a:solidFill>
                        </a:defRPr>
                      </a:pPr>
                      <a:r>
                        <a:t>communities involved in</a:t>
                      </a:r>
                    </a:p>
                    <a:p>
                      <a:pPr algn="l">
                        <a:defRPr sz="1100">
                          <a:solidFill>
                            <a:srgbClr val="323232"/>
                          </a:solidFill>
                        </a:defRPr>
                      </a:pPr>
                      <a:r>
                        <a:t>traditional hunting</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12.00</a:t>
                      </a:r>
                    </a:p>
                  </a:txBody>
                  <a:tcPr marL="36576" marR="36576" marT="18288" marB="18288"/>
                </a:tc>
              </a:tr>
              <a:tr h="877824">
                <a:tc>
                  <a:txBody>
                    <a:bodyPr anchor="ctr" wrap="square"/>
                    <a:lstStyle/>
                    <a:p>
                      <a:pPr algn="l">
                        <a:defRPr sz="1100">
                          <a:solidFill>
                            <a:srgbClr val="323232"/>
                          </a:solidFill>
                        </a:defRPr>
                      </a:pPr>
                      <a:r>
                        <a:t>7</a:t>
                      </a:r>
                    </a:p>
                  </a:txBody>
                  <a:tcPr marL="36576" marR="36576" marT="18288" marB="18288"/>
                </a:tc>
                <a:tc>
                  <a:txBody>
                    <a:bodyPr anchor="ctr" wrap="square"/>
                    <a:lstStyle/>
                    <a:p>
                      <a:pPr algn="l">
                        <a:defRPr sz="1100">
                          <a:solidFill>
                            <a:srgbClr val="323232"/>
                          </a:solidFill>
                        </a:defRPr>
                      </a:pPr>
                      <a:r>
                        <a:t>Research, providing</a:t>
                      </a:r>
                    </a:p>
                    <a:p>
                      <a:pPr algn="l">
                        <a:defRPr sz="1100">
                          <a:solidFill>
                            <a:srgbClr val="323232"/>
                          </a:solidFill>
                        </a:defRPr>
                      </a:pPr>
                      <a:r>
                        <a:t>equipments (camera traps,</a:t>
                      </a:r>
                    </a:p>
                    <a:p>
                      <a:pPr algn="l">
                        <a:defRPr sz="1100">
                          <a:solidFill>
                            <a:srgbClr val="323232"/>
                          </a:solidFill>
                        </a:defRPr>
                      </a:pPr>
                      <a:r>
                        <a:t>GPS, etc.), computer</a:t>
                      </a:r>
                    </a:p>
                    <a:p>
                      <a:pPr algn="l">
                        <a:defRPr sz="1100">
                          <a:solidFill>
                            <a:srgbClr val="323232"/>
                          </a:solidFill>
                        </a:defRPr>
                      </a:pPr>
                      <a:r>
                        <a:t>softwares, All India</a:t>
                      </a:r>
                    </a:p>
                    <a:p>
                      <a:pPr algn="l">
                        <a:defRPr sz="1100">
                          <a:solidFill>
                            <a:srgbClr val="323232"/>
                          </a:solidFill>
                        </a:defRPr>
                      </a:pPr>
                      <a:r>
                        <a:t>Estimation of</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2.00</a:t>
                      </a:r>
                    </a:p>
                  </a:txBody>
                  <a:tcPr marL="36576" marR="36576" marT="18288" marB="18288"/>
                </a:tc>
                <a:tc>
                  <a:txBody>
                    <a:bodyPr anchor="ctr" wrap="square"/>
                    <a:lstStyle/>
                    <a:p>
                      <a:pPr algn="l">
                        <a:defRPr sz="1100">
                          <a:solidFill>
                            <a:srgbClr val="323232"/>
                          </a:solidFill>
                        </a:defRPr>
                      </a:pPr>
                      <a:r>
                        <a:t>0.50</a:t>
                      </a:r>
                    </a:p>
                  </a:txBody>
                  <a:tcPr marL="36576" marR="36576" marT="18288" marB="18288"/>
                </a:tc>
                <a:tc>
                  <a:txBody>
                    <a:bodyPr anchor="ctr" wrap="square"/>
                    <a:lstStyle/>
                    <a:p>
                      <a:pPr algn="l">
                        <a:defRPr sz="1100">
                          <a:solidFill>
                            <a:srgbClr val="323232"/>
                          </a:solidFill>
                        </a:defRPr>
                      </a:pPr>
                      <a:r>
                        <a:t>0.50</a:t>
                      </a:r>
                    </a:p>
                  </a:txBody>
                  <a:tcPr marL="36576" marR="36576" marT="18288" marB="18288"/>
                </a:tc>
                <a:tc>
                  <a:txBody>
                    <a:bodyPr anchor="ctr" wrap="square"/>
                    <a:lstStyle/>
                    <a:p>
                      <a:pPr algn="l">
                        <a:defRPr sz="1100">
                          <a:solidFill>
                            <a:srgbClr val="323232"/>
                          </a:solidFill>
                        </a:defRPr>
                      </a:pPr>
                      <a:r>
                        <a:t>0.50</a:t>
                      </a:r>
                    </a:p>
                  </a:txBody>
                  <a:tcPr marL="36576" marR="36576" marT="18288" marB="18288"/>
                </a:tc>
                <a:tc>
                  <a:txBody>
                    <a:bodyPr anchor="ctr" wrap="square"/>
                    <a:lstStyle/>
                    <a:p>
                      <a:pPr algn="l">
                        <a:defRPr sz="1100">
                          <a:solidFill>
                            <a:srgbClr val="323232"/>
                          </a:solidFill>
                        </a:defRPr>
                      </a:pPr>
                      <a:r>
                        <a:t>0.50</a:t>
                      </a:r>
                    </a:p>
                  </a:txBody>
                  <a:tcPr marL="36576" marR="36576" marT="18288" marB="18288"/>
                </a:tc>
                <a:tc>
                  <a:txBody>
                    <a:bodyPr anchor="ctr" wrap="square"/>
                    <a:lstStyle/>
                    <a:p>
                      <a:pPr algn="l">
                        <a:defRPr sz="1100">
                          <a:solidFill>
                            <a:srgbClr val="323232"/>
                          </a:solidFill>
                        </a:defRPr>
                      </a:pPr>
                      <a:r>
                        <a:t>4.00</a:t>
                      </a:r>
                    </a:p>
                  </a:txBody>
                  <a:tcPr marL="36576" marR="36576" marT="18288" marB="18288"/>
                </a:tc>
              </a:tr>
              <a:tr h="402336">
                <a:tc>
                  <a:txBody>
                    <a:bodyPr anchor="ctr" wrap="square"/>
                    <a:lstStyle/>
                    <a:p>
                      <a:pPr algn="l">
                        <a:defRPr sz="1100">
                          <a:solidFill>
                            <a:srgbClr val="323232"/>
                          </a:solidFill>
                        </a:defRPr>
                      </a:pPr>
                      <a:r>
                        <a:t>8</a:t>
                      </a:r>
                    </a:p>
                  </a:txBody>
                  <a:tcPr marL="36576" marR="36576" marT="18288" marB="18288"/>
                </a:tc>
                <a:tc>
                  <a:txBody>
                    <a:bodyPr anchor="ctr" wrap="square"/>
                    <a:lstStyle/>
                    <a:p>
                      <a:pPr algn="l">
                        <a:defRPr sz="1100">
                          <a:solidFill>
                            <a:srgbClr val="323232"/>
                          </a:solidFill>
                        </a:defRPr>
                      </a:pPr>
                      <a:r>
                        <a:t>Staff development and</a:t>
                      </a:r>
                    </a:p>
                    <a:p>
                      <a:pPr algn="l">
                        <a:defRPr sz="1100">
                          <a:solidFill>
                            <a:srgbClr val="323232"/>
                          </a:solidFill>
                        </a:defRPr>
                      </a:pPr>
                      <a:r>
                        <a:t>capacity building</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5.00</a:t>
                      </a:r>
                    </a:p>
                  </a:txBody>
                  <a:tcPr marL="36576" marR="36576" marT="18288" marB="18288"/>
                </a:tc>
              </a:tr>
              <a:tr h="877824">
                <a:tc>
                  <a:txBody>
                    <a:bodyPr anchor="ctr" wrap="square"/>
                    <a:lstStyle/>
                    <a:p>
                      <a:pPr algn="l">
                        <a:defRPr sz="1100">
                          <a:solidFill>
                            <a:srgbClr val="323232"/>
                          </a:solidFill>
                        </a:defRPr>
                      </a:pPr>
                      <a:r>
                        <a:t>9</a:t>
                      </a:r>
                    </a:p>
                  </a:txBody>
                  <a:tcPr marL="36576" marR="36576" marT="18288" marB="18288"/>
                </a:tc>
                <a:tc>
                  <a:txBody>
                    <a:bodyPr anchor="ctr" wrap="square"/>
                    <a:lstStyle/>
                    <a:p>
                      <a:pPr algn="l">
                        <a:defRPr sz="1100">
                          <a:solidFill>
                            <a:srgbClr val="323232"/>
                          </a:solidFill>
                        </a:defRPr>
                      </a:pPr>
                      <a:r>
                        <a:t>Deciding inviolate spaces</a:t>
                      </a:r>
                    </a:p>
                    <a:p>
                      <a:pPr algn="l">
                        <a:defRPr sz="1100">
                          <a:solidFill>
                            <a:srgbClr val="323232"/>
                          </a:solidFill>
                        </a:defRPr>
                      </a:pPr>
                      <a:r>
                        <a:t>for wildlife and</a:t>
                      </a:r>
                    </a:p>
                    <a:p>
                      <a:pPr algn="l">
                        <a:defRPr sz="1100">
                          <a:solidFill>
                            <a:srgbClr val="323232"/>
                          </a:solidFill>
                        </a:defRPr>
                      </a:pPr>
                      <a:r>
                        <a:t>relocation of villagers</a:t>
                      </a:r>
                    </a:p>
                    <a:p>
                      <a:pPr algn="l">
                        <a:defRPr sz="1100">
                          <a:solidFill>
                            <a:srgbClr val="323232"/>
                          </a:solidFill>
                        </a:defRPr>
                      </a:pPr>
                      <a:r>
                        <a:t>from core or critical</a:t>
                      </a:r>
                    </a:p>
                    <a:p>
                      <a:pPr algn="l">
                        <a:defRPr sz="1100">
                          <a:solidFill>
                            <a:srgbClr val="323232"/>
                          </a:solidFill>
                        </a:defRPr>
                      </a:pPr>
                      <a:r>
                        <a:t>tiger habitats in Tiger</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6.00</a:t>
                      </a:r>
                    </a:p>
                  </a:txBody>
                  <a:tcPr marL="36576" marR="36576" marT="18288" marB="18288"/>
                </a:tc>
              </a:tr>
              <a:tr h="877824">
                <a:tc>
                  <a:txBody>
                    <a:bodyPr anchor="ctr" wrap="square"/>
                    <a:lstStyle/>
                    <a:p>
                      <a:pPr algn="l">
                        <a:defRPr sz="1100">
                          <a:solidFill>
                            <a:srgbClr val="323232"/>
                          </a:solidFill>
                        </a:defRPr>
                      </a:pPr>
                      <a:r>
                        <a:t>10</a:t>
                      </a:r>
                    </a:p>
                  </a:txBody>
                  <a:tcPr marL="36576" marR="36576" marT="18288" marB="18288"/>
                </a:tc>
                <a:tc>
                  <a:txBody>
                    <a:bodyPr anchor="ctr" wrap="square"/>
                    <a:lstStyle/>
                    <a:p>
                      <a:pPr algn="l">
                        <a:defRPr sz="1100">
                          <a:solidFill>
                            <a:srgbClr val="323232"/>
                          </a:solidFill>
                        </a:defRPr>
                      </a:pPr>
                      <a:r>
                        <a:t>Mainstreaming livelihood</a:t>
                      </a:r>
                    </a:p>
                    <a:p>
                      <a:pPr algn="l">
                        <a:defRPr sz="1100">
                          <a:solidFill>
                            <a:srgbClr val="323232"/>
                          </a:solidFill>
                        </a:defRPr>
                      </a:pPr>
                      <a:r>
                        <a:t>and wildlife concerns in</a:t>
                      </a:r>
                    </a:p>
                    <a:p>
                      <a:pPr algn="l">
                        <a:defRPr sz="1100">
                          <a:solidFill>
                            <a:srgbClr val="323232"/>
                          </a:solidFill>
                        </a:defRPr>
                      </a:pPr>
                      <a:r>
                        <a:t>forests outside tiger</a:t>
                      </a:r>
                    </a:p>
                    <a:p>
                      <a:pPr algn="l">
                        <a:defRPr sz="1100">
                          <a:solidFill>
                            <a:srgbClr val="323232"/>
                          </a:solidFill>
                        </a:defRPr>
                      </a:pPr>
                      <a:r>
                        <a:t>reserves and fostering</a:t>
                      </a:r>
                    </a:p>
                    <a:p>
                      <a:pPr algn="l">
                        <a:defRPr sz="1100">
                          <a:solidFill>
                            <a:srgbClr val="323232"/>
                          </a:solidFill>
                        </a:defRPr>
                      </a:pPr>
                      <a:r>
                        <a:t>corridor conservation</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30.00</a:t>
                      </a:r>
                    </a:p>
                  </a:txBody>
                  <a:tcPr marL="36576" marR="36576" marT="18288" marB="18288"/>
                </a:tc>
                <a:tc>
                  <a:txBody>
                    <a:bodyPr anchor="ctr" wrap="square"/>
                    <a:lstStyle/>
                    <a:p>
                      <a:pPr algn="l">
                        <a:defRPr sz="1100">
                          <a:solidFill>
                            <a:srgbClr val="323232"/>
                          </a:solidFill>
                        </a:defRPr>
                      </a:pPr>
                      <a:r>
                        <a:t>78.75</a:t>
                      </a:r>
                    </a:p>
                  </a:txBody>
                  <a:tcPr marL="36576" marR="36576" marT="18288" marB="18288"/>
                </a:tc>
                <a:tc>
                  <a:txBody>
                    <a:bodyPr anchor="ctr" wrap="square"/>
                    <a:lstStyle/>
                    <a:p>
                      <a:pPr algn="l">
                        <a:defRPr sz="1100">
                          <a:solidFill>
                            <a:srgbClr val="323232"/>
                          </a:solidFill>
                        </a:defRPr>
                      </a:pPr>
                      <a:r>
                        <a:t>78.75</a:t>
                      </a:r>
                    </a:p>
                  </a:txBody>
                  <a:tcPr marL="36576" marR="36576" marT="18288" marB="18288"/>
                </a:tc>
                <a:tc>
                  <a:txBody>
                    <a:bodyPr anchor="ctr" wrap="square"/>
                    <a:lstStyle/>
                    <a:p>
                      <a:pPr algn="l">
                        <a:defRPr sz="1100">
                          <a:solidFill>
                            <a:srgbClr val="323232"/>
                          </a:solidFill>
                        </a:defRPr>
                      </a:pPr>
                      <a:r>
                        <a:t>78.75</a:t>
                      </a:r>
                    </a:p>
                  </a:txBody>
                  <a:tcPr marL="36576" marR="36576" marT="18288" marB="18288"/>
                </a:tc>
                <a:tc>
                  <a:txBody>
                    <a:bodyPr anchor="ctr" wrap="square"/>
                    <a:lstStyle/>
                    <a:p>
                      <a:pPr algn="l">
                        <a:defRPr sz="1100">
                          <a:solidFill>
                            <a:srgbClr val="323232"/>
                          </a:solidFill>
                        </a:defRPr>
                      </a:pPr>
                      <a:r>
                        <a:t>78.75</a:t>
                      </a:r>
                    </a:p>
                  </a:txBody>
                  <a:tcPr marL="36576" marR="36576" marT="18288" marB="18288"/>
                </a:tc>
                <a:tc>
                  <a:txBody>
                    <a:bodyPr anchor="ctr" wrap="square"/>
                    <a:lstStyle/>
                    <a:p>
                      <a:pPr algn="l">
                        <a:defRPr sz="1100">
                          <a:solidFill>
                            <a:srgbClr val="323232"/>
                          </a:solidFill>
                        </a:defRPr>
                      </a:pPr>
                      <a:r>
                        <a:t>345.00</a:t>
                      </a:r>
                    </a:p>
                  </a:txBody>
                  <a:tcPr marL="36576" marR="36576" marT="18288" marB="18288"/>
                </a:tc>
              </a:tr>
            </a:tbl>
          </a:graphicData>
        </a:graphic>
      </p:graphicFrame>
      <p:sp>
        <p:nvSpPr>
          <p:cNvPr id="4" name="TextBox 3"/>
          <p:cNvSpPr txBox="1"/>
          <p:nvPr/>
        </p:nvSpPr>
        <p:spPr>
          <a:xfrm>
            <a:off x="457200" y="6492240"/>
            <a:ext cx="8229600" cy="182880"/>
          </a:xfrm>
          <a:prstGeom prst="rect">
            <a:avLst/>
          </a:prstGeom>
          <a:noFill/>
        </p:spPr>
        <p:txBody>
          <a:bodyPr wrap="none">
            <a:spAutoFit/>
          </a:bodyPr>
          <a:lstStyle/>
          <a:p/>
          <a:p>
            <a:pPr algn="r">
              <a:defRPr sz="900">
                <a:solidFill>
                  <a:srgbClr val="646464"/>
                </a:solidFill>
              </a:defRPr>
            </a:pPr>
            <a:r>
              <a:t>Page 2 of 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EFC Annexure-II (Rs. in crores) (3/4)</a:t>
            </a:r>
          </a:p>
        </p:txBody>
      </p:sp>
      <p:graphicFrame>
        <p:nvGraphicFramePr>
          <p:cNvPr id="3" name="Table 2"/>
          <p:cNvGraphicFramePr>
            <a:graphicFrameLocks noGrp="1"/>
          </p:cNvGraphicFramePr>
          <p:nvPr/>
        </p:nvGraphicFramePr>
        <p:xfrm>
          <a:off x="457200" y="1554798"/>
          <a:ext cx="8229599" cy="3401568"/>
        </p:xfrm>
        <a:graphic>
          <a:graphicData uri="http://schemas.openxmlformats.org/drawingml/2006/table">
            <a:tbl>
              <a:tblPr firstRow="1" bandRow="1">
                <a:tableStyleId>{5C22544A-7EE6-4342-B048-85BDC9FD1C3A}</a:tableStyleId>
              </a:tblPr>
              <a:tblGrid>
                <a:gridCol w="729205"/>
                <a:gridCol w="3125164"/>
                <a:gridCol w="729205"/>
                <a:gridCol w="729205"/>
                <a:gridCol w="729205"/>
                <a:gridCol w="729205"/>
                <a:gridCol w="729205"/>
                <a:gridCol w="729205"/>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Name of Activities</a:t>
                      </a:r>
                    </a:p>
                  </a:txBody>
                  <a:tcPr marL="36576" marR="36576" marT="18288" marB="18288">
                    <a:solidFill>
                      <a:srgbClr val="2C3E50"/>
                    </a:solidFill>
                  </a:tcPr>
                </a:tc>
                <a:tc>
                  <a:txBody>
                    <a:bodyPr anchor="ctr" wrap="square"/>
                    <a:lstStyle/>
                    <a:p>
                      <a:pPr algn="ctr">
                        <a:defRPr b="1" sz="1200">
                          <a:solidFill>
                            <a:srgbClr val="FFFFFF"/>
                          </a:solidFill>
                        </a:defRPr>
                      </a:pPr>
                      <a:r>
                        <a:t>2007-08</a:t>
                      </a:r>
                    </a:p>
                  </a:txBody>
                  <a:tcPr marL="36576" marR="36576" marT="18288" marB="18288">
                    <a:solidFill>
                      <a:srgbClr val="2C3E50"/>
                    </a:solidFill>
                  </a:tcPr>
                </a:tc>
                <a:tc>
                  <a:txBody>
                    <a:bodyPr anchor="ctr" wrap="square"/>
                    <a:lstStyle/>
                    <a:p>
                      <a:pPr algn="ctr">
                        <a:defRPr b="1" sz="1200">
                          <a:solidFill>
                            <a:srgbClr val="FFFFFF"/>
                          </a:solidFill>
                        </a:defRPr>
                      </a:pPr>
                      <a:r>
                        <a:t>2008-09</a:t>
                      </a:r>
                    </a:p>
                  </a:txBody>
                  <a:tcPr marL="36576" marR="36576" marT="18288" marB="18288">
                    <a:solidFill>
                      <a:srgbClr val="2C3E50"/>
                    </a:solidFill>
                  </a:tcPr>
                </a:tc>
                <a:tc>
                  <a:txBody>
                    <a:bodyPr anchor="ctr" wrap="square"/>
                    <a:lstStyle/>
                    <a:p>
                      <a:pPr algn="ctr">
                        <a:defRPr b="1" sz="1200">
                          <a:solidFill>
                            <a:srgbClr val="FFFFFF"/>
                          </a:solidFill>
                        </a:defRPr>
                      </a:pPr>
                      <a:r>
                        <a:t>2009-10</a:t>
                      </a:r>
                    </a:p>
                  </a:txBody>
                  <a:tcPr marL="36576" marR="36576" marT="18288" marB="18288">
                    <a:solidFill>
                      <a:srgbClr val="2C3E50"/>
                    </a:solidFill>
                  </a:tcPr>
                </a:tc>
                <a:tc>
                  <a:txBody>
                    <a:bodyPr anchor="ctr" wrap="square"/>
                    <a:lstStyle/>
                    <a:p>
                      <a:pPr algn="ctr">
                        <a:defRPr b="1" sz="1200">
                          <a:solidFill>
                            <a:srgbClr val="FFFFFF"/>
                          </a:solidFill>
                        </a:defRPr>
                      </a:pPr>
                      <a:r>
                        <a:t>2010-11</a:t>
                      </a:r>
                    </a:p>
                  </a:txBody>
                  <a:tcPr marL="36576" marR="36576" marT="18288" marB="18288">
                    <a:solidFill>
                      <a:srgbClr val="2C3E50"/>
                    </a:solidFill>
                  </a:tcPr>
                </a:tc>
                <a:tc>
                  <a:txBody>
                    <a:bodyPr anchor="ctr" wrap="square"/>
                    <a:lstStyle/>
                    <a:p>
                      <a:pPr algn="ctr">
                        <a:defRPr b="1" sz="1200">
                          <a:solidFill>
                            <a:srgbClr val="FFFFFF"/>
                          </a:solidFill>
                        </a:defRPr>
                      </a:pPr>
                      <a:r>
                        <a:t>2011-12</a:t>
                      </a:r>
                    </a:p>
                  </a:txBody>
                  <a:tcPr marL="36576" marR="36576" marT="18288" marB="18288">
                    <a:solidFill>
                      <a:srgbClr val="2C3E50"/>
                    </a:solidFill>
                  </a:tcPr>
                </a:tc>
                <a:tc>
                  <a:txBody>
                    <a:bodyPr anchor="ctr" wrap="square"/>
                    <a:lstStyle/>
                    <a:p>
                      <a:pPr algn="ctr">
                        <a:defRPr b="1" sz="1200">
                          <a:solidFill>
                            <a:srgbClr val="FFFFFF"/>
                          </a:solidFill>
                        </a:defRPr>
                      </a:pPr>
                      <a:r>
                        <a:t>Total</a:t>
                      </a:r>
                    </a:p>
                  </a:txBody>
                  <a:tcPr marL="36576" marR="36576" marT="18288" marB="18288">
                    <a:solidFill>
                      <a:srgbClr val="2C3E50"/>
                    </a:solidFill>
                  </a:tcPr>
                </a:tc>
              </a:tr>
              <a:tr h="521208">
                <a:tc>
                  <a:txBody>
                    <a:bodyPr anchor="ctr" wrap="square"/>
                    <a:lstStyle/>
                    <a:p>
                      <a:pPr algn="l">
                        <a:defRPr sz="1100">
                          <a:solidFill>
                            <a:srgbClr val="323232"/>
                          </a:solidFill>
                        </a:defRPr>
                      </a:pPr>
                      <a:r>
                        <a:t>11</a:t>
                      </a:r>
                    </a:p>
                  </a:txBody>
                  <a:tcPr marL="36576" marR="36576" marT="18288" marB="18288"/>
                </a:tc>
                <a:tc>
                  <a:txBody>
                    <a:bodyPr anchor="ctr" wrap="square"/>
                    <a:lstStyle/>
                    <a:p>
                      <a:pPr algn="l">
                        <a:defRPr sz="1100">
                          <a:solidFill>
                            <a:srgbClr val="323232"/>
                          </a:solidFill>
                        </a:defRPr>
                      </a:pPr>
                      <a:r>
                        <a:t>Safeguards / Retrofitting</a:t>
                      </a:r>
                    </a:p>
                    <a:p>
                      <a:pPr algn="l">
                        <a:defRPr sz="1100">
                          <a:solidFill>
                            <a:srgbClr val="323232"/>
                          </a:solidFill>
                        </a:defRPr>
                      </a:pPr>
                      <a:r>
                        <a:t>measures in the interest</a:t>
                      </a:r>
                    </a:p>
                    <a:p>
                      <a:pPr algn="l">
                        <a:defRPr sz="1100">
                          <a:solidFill>
                            <a:srgbClr val="323232"/>
                          </a:solidFill>
                        </a:defRPr>
                      </a:pPr>
                      <a:r>
                        <a:t>of wildlife conservation</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1.25</a:t>
                      </a:r>
                    </a:p>
                  </a:txBody>
                  <a:tcPr marL="36576" marR="36576" marT="18288" marB="18288"/>
                </a:tc>
                <a:tc>
                  <a:txBody>
                    <a:bodyPr anchor="ctr" wrap="square"/>
                    <a:lstStyle/>
                    <a:p>
                      <a:pPr algn="l">
                        <a:defRPr sz="1100">
                          <a:solidFill>
                            <a:srgbClr val="323232"/>
                          </a:solidFill>
                        </a:defRPr>
                      </a:pPr>
                      <a:r>
                        <a:t>1.25</a:t>
                      </a:r>
                    </a:p>
                  </a:txBody>
                  <a:tcPr marL="36576" marR="36576" marT="18288" marB="18288"/>
                </a:tc>
                <a:tc>
                  <a:txBody>
                    <a:bodyPr anchor="ctr" wrap="square"/>
                    <a:lstStyle/>
                    <a:p>
                      <a:pPr algn="l">
                        <a:defRPr sz="1100">
                          <a:solidFill>
                            <a:srgbClr val="323232"/>
                          </a:solidFill>
                        </a:defRPr>
                      </a:pPr>
                      <a:r>
                        <a:t>1.25</a:t>
                      </a:r>
                    </a:p>
                  </a:txBody>
                  <a:tcPr marL="36576" marR="36576" marT="18288" marB="18288"/>
                </a:tc>
                <a:tc>
                  <a:txBody>
                    <a:bodyPr anchor="ctr" wrap="square"/>
                    <a:lstStyle/>
                    <a:p>
                      <a:pPr algn="l">
                        <a:defRPr sz="1100">
                          <a:solidFill>
                            <a:srgbClr val="323232"/>
                          </a:solidFill>
                        </a:defRPr>
                      </a:pPr>
                      <a:r>
                        <a:t>1.25</a:t>
                      </a:r>
                    </a:p>
                  </a:txBody>
                  <a:tcPr marL="36576" marR="36576" marT="18288" marB="18288"/>
                </a:tc>
                <a:tc>
                  <a:txBody>
                    <a:bodyPr anchor="ctr" wrap="square"/>
                    <a:lstStyle/>
                    <a:p>
                      <a:pPr algn="l">
                        <a:defRPr sz="1100">
                          <a:solidFill>
                            <a:srgbClr val="323232"/>
                          </a:solidFill>
                        </a:defRPr>
                      </a:pPr>
                      <a:r>
                        <a:t>5.00</a:t>
                      </a:r>
                    </a:p>
                  </a:txBody>
                  <a:tcPr marL="36576" marR="36576" marT="18288" marB="18288"/>
                </a:tc>
              </a:tr>
              <a:tr h="877824">
                <a:tc>
                  <a:txBody>
                    <a:bodyPr anchor="ctr" wrap="square"/>
                    <a:lstStyle/>
                    <a:p>
                      <a:pPr algn="l">
                        <a:defRPr sz="1100">
                          <a:solidFill>
                            <a:srgbClr val="323232"/>
                          </a:solidFill>
                        </a:defRPr>
                      </a:pPr>
                      <a:r>
                        <a:t>12</a:t>
                      </a:r>
                    </a:p>
                  </a:txBody>
                  <a:tcPr marL="36576" marR="36576" marT="18288" marB="18288"/>
                </a:tc>
                <a:tc>
                  <a:txBody>
                    <a:bodyPr anchor="ctr" wrap="square"/>
                    <a:lstStyle/>
                    <a:p>
                      <a:pPr algn="l">
                        <a:defRPr sz="1100">
                          <a:solidFill>
                            <a:srgbClr val="323232"/>
                          </a:solidFill>
                        </a:defRPr>
                      </a:pPr>
                      <a:r>
                        <a:t>Providing basic</a:t>
                      </a:r>
                    </a:p>
                    <a:p>
                      <a:pPr algn="l">
                        <a:defRPr sz="1100">
                          <a:solidFill>
                            <a:srgbClr val="323232"/>
                          </a:solidFill>
                        </a:defRPr>
                      </a:pPr>
                      <a:r>
                        <a:t>infrastructure/ Project</a:t>
                      </a:r>
                    </a:p>
                    <a:p>
                      <a:pPr algn="l">
                        <a:defRPr sz="1100">
                          <a:solidFill>
                            <a:srgbClr val="323232"/>
                          </a:solidFill>
                        </a:defRPr>
                      </a:pPr>
                      <a:r>
                        <a:t>Tiger Headquarter</a:t>
                      </a:r>
                    </a:p>
                    <a:p>
                      <a:pPr algn="l">
                        <a:defRPr sz="1100">
                          <a:solidFill>
                            <a:srgbClr val="323232"/>
                          </a:solidFill>
                        </a:defRPr>
                      </a:pPr>
                      <a:r>
                        <a:t>expenditure for</a:t>
                      </a:r>
                    </a:p>
                    <a:p>
                      <a:pPr algn="l">
                        <a:defRPr sz="1100">
                          <a:solidFill>
                            <a:srgbClr val="323232"/>
                          </a:solidFill>
                        </a:defRPr>
                      </a:pPr>
                      <a:r>
                        <a:t>consultancy, all India</a:t>
                      </a:r>
                    </a:p>
                    <a:p>
                      <a:pPr algn="l">
                        <a:defRPr sz="1100">
                          <a:solidFill>
                            <a:srgbClr val="323232"/>
                          </a:solidFill>
                        </a:defRPr>
                      </a:pPr>
                      <a:r>
                        <a:t>...</a:t>
                      </a:r>
                    </a:p>
                  </a:txBody>
                  <a:tcPr marL="36576" marR="36576" marT="18288" marB="18288"/>
                </a:tc>
                <a:tc>
                  <a:txBody>
                    <a:bodyPr anchor="ctr" wrap="square"/>
                    <a:lstStyle/>
                    <a:p>
                      <a:pPr algn="l">
                        <a:defRPr sz="1100">
                          <a:solidFill>
                            <a:srgbClr val="323232"/>
                          </a:solidFill>
                        </a:defRPr>
                      </a:pPr>
                      <a:r>
                        <a:t>2.00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1.50</a:t>
                      </a:r>
                    </a:p>
                  </a:txBody>
                  <a:tcPr marL="36576" marR="36576" marT="18288" marB="18288"/>
                </a:tc>
                <a:tc>
                  <a:txBody>
                    <a:bodyPr anchor="ctr" wrap="square"/>
                    <a:lstStyle/>
                    <a:p>
                      <a:pPr algn="l">
                        <a:defRPr sz="1100">
                          <a:solidFill>
                            <a:srgbClr val="323232"/>
                          </a:solidFill>
                        </a:defRPr>
                      </a:pPr>
                      <a:r>
                        <a:t>8.00</a:t>
                      </a:r>
                    </a:p>
                  </a:txBody>
                  <a:tcPr marL="36576" marR="36576" marT="18288" marB="18288"/>
                </a:tc>
              </a:tr>
              <a:tr h="521208">
                <a:tc>
                  <a:txBody>
                    <a:bodyPr anchor="ctr" wrap="square"/>
                    <a:lstStyle/>
                    <a:p>
                      <a:pPr algn="l">
                        <a:defRPr sz="1100">
                          <a:solidFill>
                            <a:srgbClr val="323232"/>
                          </a:solidFill>
                        </a:defRPr>
                      </a:pPr>
                      <a:r>
                        <a:t>13</a:t>
                      </a:r>
                    </a:p>
                  </a:txBody>
                  <a:tcPr marL="36576" marR="36576" marT="18288" marB="18288"/>
                </a:tc>
                <a:tc>
                  <a:txBody>
                    <a:bodyPr anchor="ctr" wrap="square"/>
                    <a:lstStyle/>
                    <a:p>
                      <a:pPr algn="l">
                        <a:defRPr sz="1100">
                          <a:solidFill>
                            <a:srgbClr val="323232"/>
                          </a:solidFill>
                        </a:defRPr>
                      </a:pPr>
                      <a:r>
                        <a:t>Independent Monitoring</a:t>
                      </a:r>
                    </a:p>
                    <a:p>
                      <a:pPr algn="l">
                        <a:defRPr sz="1100">
                          <a:solidFill>
                            <a:srgbClr val="323232"/>
                          </a:solidFill>
                        </a:defRPr>
                      </a:pPr>
                      <a:r>
                        <a:t>and evaluation of tiger</a:t>
                      </a:r>
                    </a:p>
                    <a:p>
                      <a:pPr algn="l">
                        <a:defRPr sz="1100">
                          <a:solidFill>
                            <a:srgbClr val="323232"/>
                          </a:solidFill>
                        </a:defRPr>
                      </a:pPr>
                      <a:r>
                        <a:t>reserves</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0.25</a:t>
                      </a:r>
                    </a:p>
                  </a:txBody>
                  <a:tcPr marL="36576" marR="36576" marT="18288" marB="18288"/>
                </a:tc>
                <a:tc>
                  <a:txBody>
                    <a:bodyPr anchor="ctr" wrap="square"/>
                    <a:lstStyle/>
                    <a:p>
                      <a:pPr algn="l">
                        <a:defRPr sz="1100">
                          <a:solidFill>
                            <a:srgbClr val="323232"/>
                          </a:solidFill>
                        </a:defRPr>
                      </a:pPr>
                      <a:r>
                        <a:t>0.25</a:t>
                      </a:r>
                    </a:p>
                  </a:txBody>
                  <a:tcPr marL="36576" marR="36576" marT="18288" marB="18288"/>
                </a:tc>
                <a:tc>
                  <a:txBody>
                    <a:bodyPr anchor="ctr" wrap="square"/>
                    <a:lstStyle/>
                    <a:p>
                      <a:pPr algn="l">
                        <a:defRPr sz="1100">
                          <a:solidFill>
                            <a:srgbClr val="323232"/>
                          </a:solidFill>
                        </a:defRPr>
                      </a:pPr>
                      <a:r>
                        <a:t>0.25</a:t>
                      </a:r>
                    </a:p>
                  </a:txBody>
                  <a:tcPr marL="36576" marR="36576" marT="18288" marB="18288"/>
                </a:tc>
                <a:tc>
                  <a:txBody>
                    <a:bodyPr anchor="ctr" wrap="square"/>
                    <a:lstStyle/>
                    <a:p>
                      <a:pPr algn="l">
                        <a:defRPr sz="1100">
                          <a:solidFill>
                            <a:srgbClr val="323232"/>
                          </a:solidFill>
                        </a:defRPr>
                      </a:pPr>
                      <a:r>
                        <a:t>0.25</a:t>
                      </a:r>
                    </a:p>
                  </a:txBody>
                  <a:tcPr marL="36576" marR="36576" marT="18288" marB="18288"/>
                </a:tc>
                <a:tc>
                  <a:txBody>
                    <a:bodyPr anchor="ctr" wrap="square"/>
                    <a:lstStyle/>
                    <a:p>
                      <a:pPr algn="l">
                        <a:defRPr sz="1100">
                          <a:solidFill>
                            <a:srgbClr val="323232"/>
                          </a:solidFill>
                        </a:defRPr>
                      </a:pPr>
                      <a:r>
                        <a:t>1.00</a:t>
                      </a:r>
                    </a:p>
                  </a:txBody>
                  <a:tcPr marL="36576" marR="36576" marT="18288" marB="18288"/>
                </a:tc>
              </a:tr>
              <a:tr h="521208">
                <a:tc>
                  <a:txBody>
                    <a:bodyPr anchor="ctr" wrap="square"/>
                    <a:lstStyle/>
                    <a:p>
                      <a:pPr algn="l">
                        <a:defRPr sz="1100">
                          <a:solidFill>
                            <a:srgbClr val="323232"/>
                          </a:solidFill>
                        </a:defRPr>
                      </a:pPr>
                      <a:r>
                        <a:t>14</a:t>
                      </a:r>
                    </a:p>
                  </a:txBody>
                  <a:tcPr marL="36576" marR="36576" marT="18288" marB="18288"/>
                </a:tc>
                <a:tc>
                  <a:txBody>
                    <a:bodyPr anchor="ctr" wrap="square"/>
                    <a:lstStyle/>
                    <a:p>
                      <a:pPr algn="l">
                        <a:defRPr sz="1100">
                          <a:solidFill>
                            <a:srgbClr val="323232"/>
                          </a:solidFill>
                        </a:defRPr>
                      </a:pPr>
                      <a:r>
                        <a:t>Establishment and</a:t>
                      </a:r>
                    </a:p>
                    <a:p>
                      <a:pPr algn="l">
                        <a:defRPr sz="1100">
                          <a:solidFill>
                            <a:srgbClr val="323232"/>
                          </a:solidFill>
                        </a:defRPr>
                      </a:pPr>
                      <a:r>
                        <a:t>development of eight new</a:t>
                      </a:r>
                    </a:p>
                    <a:p>
                      <a:pPr algn="l">
                        <a:defRPr sz="1100">
                          <a:solidFill>
                            <a:srgbClr val="323232"/>
                          </a:solidFill>
                        </a:defRPr>
                      </a:pPr>
                      <a:r>
                        <a:t>tiger reserves</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8.00</a:t>
                      </a:r>
                    </a:p>
                  </a:txBody>
                  <a:tcPr marL="36576" marR="36576" marT="18288" marB="18288"/>
                </a:tc>
                <a:tc>
                  <a:txBody>
                    <a:bodyPr anchor="ctr" wrap="square"/>
                    <a:lstStyle/>
                    <a:p>
                      <a:pPr algn="l">
                        <a:defRPr sz="1100">
                          <a:solidFill>
                            <a:srgbClr val="323232"/>
                          </a:solidFill>
                        </a:defRPr>
                      </a:pPr>
                      <a:r>
                        <a:t>8.00</a:t>
                      </a:r>
                    </a:p>
                  </a:txBody>
                  <a:tcPr marL="36576" marR="36576" marT="18288" marB="18288"/>
                </a:tc>
                <a:tc>
                  <a:txBody>
                    <a:bodyPr anchor="ctr" wrap="square"/>
                    <a:lstStyle/>
                    <a:p>
                      <a:pPr algn="l">
                        <a:defRPr sz="1100">
                          <a:solidFill>
                            <a:srgbClr val="323232"/>
                          </a:solidFill>
                        </a:defRPr>
                      </a:pPr>
                      <a:r>
                        <a:t>8.00</a:t>
                      </a:r>
                    </a:p>
                  </a:txBody>
                  <a:tcPr marL="36576" marR="36576" marT="18288" marB="18288"/>
                </a:tc>
                <a:tc>
                  <a:txBody>
                    <a:bodyPr anchor="ctr" wrap="square"/>
                    <a:lstStyle/>
                    <a:p>
                      <a:pPr algn="l">
                        <a:defRPr sz="1100">
                          <a:solidFill>
                            <a:srgbClr val="323232"/>
                          </a:solidFill>
                        </a:defRPr>
                      </a:pPr>
                      <a:r>
                        <a:t>8.00</a:t>
                      </a:r>
                    </a:p>
                  </a:txBody>
                  <a:tcPr marL="36576" marR="36576" marT="18288" marB="18288"/>
                </a:tc>
                <a:tc>
                  <a:txBody>
                    <a:bodyPr anchor="ctr" wrap="square"/>
                    <a:lstStyle/>
                    <a:p>
                      <a:pPr algn="l">
                        <a:defRPr sz="1100">
                          <a:solidFill>
                            <a:srgbClr val="323232"/>
                          </a:solidFill>
                        </a:defRPr>
                      </a:pPr>
                      <a:r>
                        <a:t>32.00</a:t>
                      </a:r>
                    </a:p>
                  </a:txBody>
                  <a:tcPr marL="36576" marR="36576" marT="18288" marB="18288"/>
                </a:tc>
              </a:tr>
              <a:tr h="640080">
                <a:tc>
                  <a:txBody>
                    <a:bodyPr anchor="ctr" wrap="square"/>
                    <a:lstStyle/>
                    <a:p>
                      <a:pPr algn="l">
                        <a:defRPr sz="1100">
                          <a:solidFill>
                            <a:srgbClr val="323232"/>
                          </a:solidFill>
                        </a:defRPr>
                      </a:pPr>
                      <a:r>
                        <a:t>15</a:t>
                      </a:r>
                    </a:p>
                  </a:txBody>
                  <a:tcPr marL="36576" marR="36576" marT="18288" marB="18288"/>
                </a:tc>
                <a:tc>
                  <a:txBody>
                    <a:bodyPr anchor="ctr" wrap="square"/>
                    <a:lstStyle/>
                    <a:p>
                      <a:pPr algn="l">
                        <a:defRPr sz="1100">
                          <a:solidFill>
                            <a:srgbClr val="323232"/>
                          </a:solidFill>
                        </a:defRPr>
                      </a:pPr>
                      <a:r>
                        <a:t>Provision of project</a:t>
                      </a:r>
                    </a:p>
                    <a:p>
                      <a:pPr algn="l">
                        <a:defRPr sz="1100">
                          <a:solidFill>
                            <a:srgbClr val="323232"/>
                          </a:solidFill>
                        </a:defRPr>
                      </a:pPr>
                      <a:r>
                        <a:t>allowance to all</a:t>
                      </a:r>
                    </a:p>
                    <a:p>
                      <a:pPr algn="l">
                        <a:defRPr sz="1100">
                          <a:solidFill>
                            <a:srgbClr val="323232"/>
                          </a:solidFill>
                        </a:defRPr>
                      </a:pPr>
                      <a:r>
                        <a:t>categories of Project</a:t>
                      </a:r>
                    </a:p>
                    <a:p>
                      <a:pPr algn="l">
                        <a:defRPr sz="1100">
                          <a:solidFill>
                            <a:srgbClr val="323232"/>
                          </a:solidFill>
                        </a:defRPr>
                      </a:pPr>
                      <a:r>
                        <a:t>Tiger field staff</a:t>
                      </a:r>
                    </a:p>
                  </a:txBody>
                  <a:tcPr marL="36576" marR="36576" marT="18288" marB="18288"/>
                </a:tc>
                <a:tc>
                  <a:txBody>
                    <a:bodyPr anchor="ctr" wrap="square"/>
                    <a:lstStyle/>
                    <a:p>
                      <a:pPr algn="l">
                        <a:defRPr sz="1100">
                          <a:solidFill>
                            <a:srgbClr val="323232"/>
                          </a:solidFill>
                        </a:defRPr>
                      </a:pPr>
                      <a:r>
                        <a:t>2.35</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3.00</a:t>
                      </a:r>
                    </a:p>
                  </a:txBody>
                  <a:tcPr marL="36576" marR="36576" marT="18288" marB="18288"/>
                </a:tc>
                <a:tc>
                  <a:txBody>
                    <a:bodyPr anchor="ctr" wrap="square"/>
                    <a:lstStyle/>
                    <a:p>
                      <a:pPr algn="l">
                        <a:defRPr sz="1100">
                          <a:solidFill>
                            <a:srgbClr val="323232"/>
                          </a:solidFill>
                        </a:defRPr>
                      </a:pPr>
                      <a:r>
                        <a:t>14.35</a:t>
                      </a:r>
                    </a:p>
                  </a:txBody>
                  <a:tcPr marL="36576" marR="36576" marT="18288" marB="18288"/>
                </a:tc>
              </a:tr>
            </a:tbl>
          </a:graphicData>
        </a:graphic>
      </p:graphicFrame>
      <p:sp>
        <p:nvSpPr>
          <p:cNvPr id="4" name="TextBox 3"/>
          <p:cNvSpPr txBox="1"/>
          <p:nvPr/>
        </p:nvSpPr>
        <p:spPr>
          <a:xfrm>
            <a:off x="457200" y="6492240"/>
            <a:ext cx="8229600" cy="182880"/>
          </a:xfrm>
          <a:prstGeom prst="rect">
            <a:avLst/>
          </a:prstGeom>
          <a:noFill/>
        </p:spPr>
        <p:txBody>
          <a:bodyPr wrap="none">
            <a:spAutoFit/>
          </a:bodyPr>
          <a:lstStyle/>
          <a:p/>
          <a:p>
            <a:pPr algn="r">
              <a:defRPr sz="900">
                <a:solidFill>
                  <a:srgbClr val="646464"/>
                </a:solidFill>
              </a:defRPr>
            </a:pPr>
            <a:r>
              <a:t>Page 3 of 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AFAFC"/>
            </a:gs>
            <a:gs pos="100000">
              <a:srgbClr val="F0F5FA"/>
            </a:gs>
          </a:gsLst>
          <a:lin scaled="0" ang="16200000"/>
        </a:gradFill>
        <a:effectLst/>
      </p:bgPr>
    </p:bg>
    <p:spTree>
      <p:nvGrpSpPr>
        <p:cNvPr id="1" name=""/>
        <p:cNvGrpSpPr/>
        <p:nvPr/>
      </p:nvGrpSpPr>
      <p:grpSpPr/>
      <p:sp>
        <p:nvSpPr>
          <p:cNvPr id="2" name="Title 1"/>
          <p:cNvSpPr>
            <a:spLocks noGrp="1"/>
          </p:cNvSpPr>
          <p:nvPr>
            <p:ph type="title"/>
          </p:nvPr>
        </p:nvSpPr>
        <p:spPr/>
        <p:txBody>
          <a:bodyPr/>
          <a:lstStyle/>
          <a:p>
            <a:pPr>
              <a:defRPr sz="3200" b="1">
                <a:solidFill>
                  <a:srgbClr val="2C3E50"/>
                </a:solidFill>
              </a:defRPr>
            </a:pPr>
            <a:r>
              <a:t>EFC Annexure-II (Rs. in crores) (4/4)</a:t>
            </a:r>
          </a:p>
        </p:txBody>
      </p:sp>
      <p:graphicFrame>
        <p:nvGraphicFramePr>
          <p:cNvPr id="3" name="Table 2"/>
          <p:cNvGraphicFramePr>
            <a:graphicFrameLocks noGrp="1"/>
          </p:cNvGraphicFramePr>
          <p:nvPr/>
        </p:nvGraphicFramePr>
        <p:xfrm>
          <a:off x="457200" y="1554798"/>
          <a:ext cx="8229595" cy="1170432"/>
        </p:xfrm>
        <a:graphic>
          <a:graphicData uri="http://schemas.openxmlformats.org/drawingml/2006/table">
            <a:tbl>
              <a:tblPr firstRow="1" bandRow="1">
                <a:tableStyleId>{5C22544A-7EE6-4342-B048-85BDC9FD1C3A}</a:tableStyleId>
              </a:tblPr>
              <a:tblGrid>
                <a:gridCol w="598516"/>
                <a:gridCol w="2561297"/>
                <a:gridCol w="844964"/>
                <a:gridCol w="862567"/>
                <a:gridCol w="862567"/>
                <a:gridCol w="862567"/>
                <a:gridCol w="862567"/>
                <a:gridCol w="774550"/>
              </a:tblGrid>
              <a:tr h="320040">
                <a:tc>
                  <a:txBody>
                    <a:bodyPr anchor="ctr" wrap="square"/>
                    <a:lstStyle/>
                    <a:p>
                      <a:pPr algn="ctr">
                        <a:defRPr b="1" sz="1200">
                          <a:solidFill>
                            <a:srgbClr val="FFFFFF"/>
                          </a:solidFill>
                        </a:defRPr>
                      </a:pPr>
                      <a:r>
                        <a:t>S. No.</a:t>
                      </a:r>
                    </a:p>
                  </a:txBody>
                  <a:tcPr marL="36576" marR="36576" marT="18288" marB="18288">
                    <a:solidFill>
                      <a:srgbClr val="2C3E50"/>
                    </a:solidFill>
                  </a:tcPr>
                </a:tc>
                <a:tc>
                  <a:txBody>
                    <a:bodyPr anchor="ctr" wrap="square"/>
                    <a:lstStyle/>
                    <a:p>
                      <a:pPr algn="ctr">
                        <a:defRPr b="1" sz="1200">
                          <a:solidFill>
                            <a:srgbClr val="FFFFFF"/>
                          </a:solidFill>
                        </a:defRPr>
                      </a:pPr>
                      <a:r>
                        <a:t>Name of Activities</a:t>
                      </a:r>
                    </a:p>
                  </a:txBody>
                  <a:tcPr marL="36576" marR="36576" marT="18288" marB="18288">
                    <a:solidFill>
                      <a:srgbClr val="2C3E50"/>
                    </a:solidFill>
                  </a:tcPr>
                </a:tc>
                <a:tc>
                  <a:txBody>
                    <a:bodyPr anchor="ctr" wrap="square"/>
                    <a:lstStyle/>
                    <a:p>
                      <a:pPr algn="ctr">
                        <a:defRPr b="1" sz="1200">
                          <a:solidFill>
                            <a:srgbClr val="FFFFFF"/>
                          </a:solidFill>
                        </a:defRPr>
                      </a:pPr>
                      <a:r>
                        <a:t>2007-08</a:t>
                      </a:r>
                    </a:p>
                  </a:txBody>
                  <a:tcPr marL="36576" marR="36576" marT="18288" marB="18288">
                    <a:solidFill>
                      <a:srgbClr val="2C3E50"/>
                    </a:solidFill>
                  </a:tcPr>
                </a:tc>
                <a:tc>
                  <a:txBody>
                    <a:bodyPr anchor="ctr" wrap="square"/>
                    <a:lstStyle/>
                    <a:p>
                      <a:pPr algn="ctr">
                        <a:defRPr b="1" sz="1200">
                          <a:solidFill>
                            <a:srgbClr val="FFFFFF"/>
                          </a:solidFill>
                        </a:defRPr>
                      </a:pPr>
                      <a:r>
                        <a:t>2008-09</a:t>
                      </a:r>
                    </a:p>
                  </a:txBody>
                  <a:tcPr marL="36576" marR="36576" marT="18288" marB="18288">
                    <a:solidFill>
                      <a:srgbClr val="2C3E50"/>
                    </a:solidFill>
                  </a:tcPr>
                </a:tc>
                <a:tc>
                  <a:txBody>
                    <a:bodyPr anchor="ctr" wrap="square"/>
                    <a:lstStyle/>
                    <a:p>
                      <a:pPr algn="ctr">
                        <a:defRPr b="1" sz="1200">
                          <a:solidFill>
                            <a:srgbClr val="FFFFFF"/>
                          </a:solidFill>
                        </a:defRPr>
                      </a:pPr>
                      <a:r>
                        <a:t>2009-10</a:t>
                      </a:r>
                    </a:p>
                  </a:txBody>
                  <a:tcPr marL="36576" marR="36576" marT="18288" marB="18288">
                    <a:solidFill>
                      <a:srgbClr val="2C3E50"/>
                    </a:solidFill>
                  </a:tcPr>
                </a:tc>
                <a:tc>
                  <a:txBody>
                    <a:bodyPr anchor="ctr" wrap="square"/>
                    <a:lstStyle/>
                    <a:p>
                      <a:pPr algn="ctr">
                        <a:defRPr b="1" sz="1200">
                          <a:solidFill>
                            <a:srgbClr val="FFFFFF"/>
                          </a:solidFill>
                        </a:defRPr>
                      </a:pPr>
                      <a:r>
                        <a:t>2010-11</a:t>
                      </a:r>
                    </a:p>
                  </a:txBody>
                  <a:tcPr marL="36576" marR="36576" marT="18288" marB="18288">
                    <a:solidFill>
                      <a:srgbClr val="2C3E50"/>
                    </a:solidFill>
                  </a:tcPr>
                </a:tc>
                <a:tc>
                  <a:txBody>
                    <a:bodyPr anchor="ctr" wrap="square"/>
                    <a:lstStyle/>
                    <a:p>
                      <a:pPr algn="ctr">
                        <a:defRPr b="1" sz="1200">
                          <a:solidFill>
                            <a:srgbClr val="FFFFFF"/>
                          </a:solidFill>
                        </a:defRPr>
                      </a:pPr>
                      <a:r>
                        <a:t>2011-12</a:t>
                      </a:r>
                    </a:p>
                  </a:txBody>
                  <a:tcPr marL="36576" marR="36576" marT="18288" marB="18288">
                    <a:solidFill>
                      <a:srgbClr val="2C3E50"/>
                    </a:solidFill>
                  </a:tcPr>
                </a:tc>
                <a:tc>
                  <a:txBody>
                    <a:bodyPr anchor="ctr" wrap="square"/>
                    <a:lstStyle/>
                    <a:p>
                      <a:pPr algn="ctr">
                        <a:defRPr b="1" sz="1200">
                          <a:solidFill>
                            <a:srgbClr val="FFFFFF"/>
                          </a:solidFill>
                        </a:defRPr>
                      </a:pPr>
                      <a:r>
                        <a:t>Total</a:t>
                      </a:r>
                    </a:p>
                  </a:txBody>
                  <a:tcPr marL="36576" marR="36576" marT="18288" marB="18288">
                    <a:solidFill>
                      <a:srgbClr val="2C3E50"/>
                    </a:solidFill>
                  </a:tcPr>
                </a:tc>
              </a:tr>
              <a:tr h="283464">
                <a:tc>
                  <a:txBody>
                    <a:bodyPr anchor="ctr" wrap="square"/>
                    <a:lstStyle/>
                    <a:p>
                      <a:pPr algn="l">
                        <a:defRPr sz="1100">
                          <a:solidFill>
                            <a:srgbClr val="323232"/>
                          </a:solidFill>
                        </a:defRPr>
                      </a:pPr>
                      <a:r>
                        <a:t>16</a:t>
                      </a:r>
                    </a:p>
                  </a:txBody>
                  <a:tcPr marL="36576" marR="36576" marT="18288" marB="18288"/>
                </a:tc>
                <a:tc>
                  <a:txBody>
                    <a:bodyPr anchor="ctr" wrap="square"/>
                    <a:lstStyle/>
                    <a:p>
                      <a:pPr algn="l">
                        <a:defRPr sz="1100">
                          <a:solidFill>
                            <a:srgbClr val="323232"/>
                          </a:solidFill>
                        </a:defRPr>
                      </a:pPr>
                      <a:r>
                        <a:t>Staff welfare activities</a:t>
                      </a:r>
                    </a:p>
                  </a:txBody>
                  <a:tcPr marL="36576" marR="36576" marT="18288" marB="18288"/>
                </a:tc>
                <a:tc>
                  <a:txBody>
                    <a:bodyPr anchor="ctr" wrap="square"/>
                    <a:lstStyle/>
                    <a:p>
                      <a:pPr algn="l">
                        <a:defRPr sz="1100">
                          <a:solidFill>
                            <a:srgbClr val="323232"/>
                          </a:solidFill>
                        </a:defRPr>
                      </a:pPr>
                      <a:r>
                        <a:t>0.150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4.150</a:t>
                      </a:r>
                    </a:p>
                  </a:txBody>
                  <a:tcPr marL="36576" marR="36576" marT="18288" marB="18288"/>
                </a:tc>
              </a:tr>
              <a:tr h="283464">
                <a:tc>
                  <a:txBody>
                    <a:bodyPr anchor="ctr" wrap="square"/>
                    <a:lstStyle/>
                    <a:p>
                      <a:pPr algn="l">
                        <a:defRPr sz="1100">
                          <a:solidFill>
                            <a:srgbClr val="323232"/>
                          </a:solidFill>
                        </a:defRPr>
                      </a:pPr>
                      <a:r>
                        <a:t>17</a:t>
                      </a:r>
                    </a:p>
                  </a:txBody>
                  <a:tcPr marL="36576" marR="36576" marT="18288" marB="18288"/>
                </a:tc>
                <a:tc>
                  <a:txBody>
                    <a:bodyPr anchor="ctr" wrap="square"/>
                    <a:lstStyle/>
                    <a:p>
                      <a:pPr algn="l">
                        <a:defRPr sz="1100">
                          <a:solidFill>
                            <a:srgbClr val="323232"/>
                          </a:solidFill>
                        </a:defRPr>
                      </a:pPr>
                      <a:r>
                        <a:t>Fostering ecotourism</a:t>
                      </a:r>
                    </a:p>
                  </a:txBody>
                  <a:tcPr marL="36576" marR="36576" marT="18288" marB="18288"/>
                </a:tc>
                <a:tc>
                  <a:txBody>
                    <a:bodyPr anchor="ctr" wrap="square"/>
                    <a:lstStyle/>
                    <a:p>
                      <a:pPr algn="l">
                        <a:defRPr sz="1100">
                          <a:solidFill>
                            <a:srgbClr val="323232"/>
                          </a:solidFill>
                        </a:defRPr>
                      </a:pPr>
                      <a:r>
                        <a:t>NIL</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1.00</a:t>
                      </a:r>
                    </a:p>
                  </a:txBody>
                  <a:tcPr marL="36576" marR="36576" marT="18288" marB="18288"/>
                </a:tc>
                <a:tc>
                  <a:txBody>
                    <a:bodyPr anchor="ctr" wrap="square"/>
                    <a:lstStyle/>
                    <a:p>
                      <a:pPr algn="l">
                        <a:defRPr sz="1100">
                          <a:solidFill>
                            <a:srgbClr val="323232"/>
                          </a:solidFill>
                        </a:defRPr>
                      </a:pPr>
                      <a:r>
                        <a:t>4.00</a:t>
                      </a:r>
                    </a:p>
                  </a:txBody>
                  <a:tcPr marL="36576" marR="36576" marT="18288" marB="18288"/>
                </a:tc>
              </a:tr>
              <a:tr h="283464">
                <a:tc>
                  <a:txBody>
                    <a:bodyPr anchor="ctr" wrap="square"/>
                    <a:lstStyle/>
                    <a:p>
                      <a:pPr algn="l">
                        <a:defRPr sz="1100">
                          <a:solidFill>
                            <a:srgbClr val="323232"/>
                          </a:solidFill>
                        </a:defRPr>
                      </a:pPr>
                    </a:p>
                  </a:txBody>
                  <a:tcPr marL="36576" marR="36576" marT="18288" marB="18288"/>
                </a:tc>
                <a:tc>
                  <a:txBody>
                    <a:bodyPr anchor="ctr" wrap="square"/>
                    <a:lstStyle/>
                    <a:p>
                      <a:pPr algn="l">
                        <a:defRPr sz="1100">
                          <a:solidFill>
                            <a:srgbClr val="323232"/>
                          </a:solidFill>
                        </a:defRPr>
                      </a:pPr>
                      <a:r>
                        <a:t>TOTAL</a:t>
                      </a:r>
                    </a:p>
                  </a:txBody>
                  <a:tcPr marL="36576" marR="36576" marT="18288" marB="18288"/>
                </a:tc>
                <a:tc>
                  <a:txBody>
                    <a:bodyPr anchor="ctr" wrap="square"/>
                    <a:lstStyle/>
                    <a:p>
                      <a:pPr algn="l">
                        <a:defRPr sz="1100">
                          <a:solidFill>
                            <a:srgbClr val="323232"/>
                          </a:solidFill>
                        </a:defRPr>
                      </a:pPr>
                      <a:r>
                        <a:t>65.00</a:t>
                      </a:r>
                    </a:p>
                  </a:txBody>
                  <a:tcPr marL="36576" marR="36576" marT="18288" marB="18288"/>
                </a:tc>
                <a:tc>
                  <a:txBody>
                    <a:bodyPr anchor="ctr" wrap="square"/>
                    <a:lstStyle/>
                    <a:p>
                      <a:pPr algn="l">
                        <a:defRPr sz="1100">
                          <a:solidFill>
                            <a:srgbClr val="323232"/>
                          </a:solidFill>
                        </a:defRPr>
                      </a:pPr>
                      <a:r>
                        <a:t>133.75</a:t>
                      </a:r>
                    </a:p>
                  </a:txBody>
                  <a:tcPr marL="36576" marR="36576" marT="18288" marB="18288"/>
                </a:tc>
                <a:tc>
                  <a:txBody>
                    <a:bodyPr anchor="ctr" wrap="square"/>
                    <a:lstStyle/>
                    <a:p>
                      <a:pPr algn="l">
                        <a:defRPr sz="1100">
                          <a:solidFill>
                            <a:srgbClr val="323232"/>
                          </a:solidFill>
                        </a:defRPr>
                      </a:pPr>
                      <a:r>
                        <a:t>133.75</a:t>
                      </a:r>
                    </a:p>
                  </a:txBody>
                  <a:tcPr marL="36576" marR="36576" marT="18288" marB="18288"/>
                </a:tc>
                <a:tc>
                  <a:txBody>
                    <a:bodyPr anchor="ctr" wrap="square"/>
                    <a:lstStyle/>
                    <a:p>
                      <a:pPr algn="l">
                        <a:defRPr sz="1100">
                          <a:solidFill>
                            <a:srgbClr val="323232"/>
                          </a:solidFill>
                        </a:defRPr>
                      </a:pPr>
                      <a:r>
                        <a:t>133.75</a:t>
                      </a:r>
                    </a:p>
                  </a:txBody>
                  <a:tcPr marL="36576" marR="36576" marT="18288" marB="18288"/>
                </a:tc>
                <a:tc>
                  <a:txBody>
                    <a:bodyPr anchor="ctr" wrap="square"/>
                    <a:lstStyle/>
                    <a:p>
                      <a:pPr algn="l">
                        <a:defRPr sz="1100">
                          <a:solidFill>
                            <a:srgbClr val="323232"/>
                          </a:solidFill>
                        </a:defRPr>
                      </a:pPr>
                      <a:r>
                        <a:t>133.75</a:t>
                      </a:r>
                    </a:p>
                  </a:txBody>
                  <a:tcPr marL="36576" marR="36576" marT="18288" marB="18288"/>
                </a:tc>
                <a:tc>
                  <a:txBody>
                    <a:bodyPr anchor="ctr" wrap="square"/>
                    <a:lstStyle/>
                    <a:p>
                      <a:pPr algn="l">
                        <a:defRPr sz="1100">
                          <a:solidFill>
                            <a:srgbClr val="323232"/>
                          </a:solidFill>
                        </a:defRPr>
                      </a:pPr>
                      <a:r>
                        <a:t>600.00</a:t>
                      </a:r>
                    </a:p>
                  </a:txBody>
                  <a:tcPr marL="36576" marR="36576" marT="18288" marB="18288"/>
                </a:tc>
              </a:tr>
            </a:tbl>
          </a:graphicData>
        </a:graphic>
      </p:graphicFrame>
      <p:sp>
        <p:nvSpPr>
          <p:cNvPr id="4" name="TextBox 3"/>
          <p:cNvSpPr txBox="1"/>
          <p:nvPr/>
        </p:nvSpPr>
        <p:spPr>
          <a:xfrm>
            <a:off x="457200" y="6492240"/>
            <a:ext cx="8229600" cy="182880"/>
          </a:xfrm>
          <a:prstGeom prst="rect">
            <a:avLst/>
          </a:prstGeom>
          <a:noFill/>
        </p:spPr>
        <p:txBody>
          <a:bodyPr wrap="none">
            <a:spAutoFit/>
          </a:bodyPr>
          <a:lstStyle/>
          <a:p/>
          <a:p>
            <a:pPr algn="r">
              <a:defRPr sz="900">
                <a:solidFill>
                  <a:srgbClr val="646464"/>
                </a:solidFill>
              </a:defRPr>
            </a:pPr>
            <a:r>
              <a:t>Page 4 of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